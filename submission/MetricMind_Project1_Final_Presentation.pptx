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601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8FAFC"/>
                </a:solidFill>
                <a:latin typeface="Aptos"/>
              </a:rPr>
              <a:t>METRICMIND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66420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38BDF8"/>
                </a:solidFill>
                <a:latin typeface="Aptos"/>
              </a:rPr>
              <a:t>Enterprise Analytics &amp; Agentic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395728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BD5E1"/>
                </a:solidFill>
                <a:latin typeface="Aptos"/>
              </a:rPr>
              <a:t>PROJECT 1 — FINAL SUBMISSION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8096" y="2971800"/>
            <a:ext cx="8046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F8FAFC"/>
                </a:solidFill>
                <a:latin typeface="Aptos"/>
              </a:rPr>
              <a:t>A governed conversational analytics platform for trusted business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1325880"/>
            <a:ext cx="1234440" cy="868680"/>
          </a:xfrm>
          <a:prstGeom prst="roundRect">
            <a:avLst/>
          </a:prstGeom>
          <a:solidFill>
            <a:srgbClr val="14203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158191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DATA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1325880"/>
            <a:ext cx="1234440" cy="868680"/>
          </a:xfrm>
          <a:prstGeom prst="roundRect">
            <a:avLst/>
          </a:prstGeom>
          <a:solidFill>
            <a:srgbClr val="14203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0" y="1581912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METRICS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651760"/>
            <a:ext cx="1234440" cy="868680"/>
          </a:xfrm>
          <a:prstGeom prst="roundRect">
            <a:avLst/>
          </a:prstGeom>
          <a:solidFill>
            <a:srgbClr val="14203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0" y="2907791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2651760"/>
            <a:ext cx="1234440" cy="868680"/>
          </a:xfrm>
          <a:prstGeom prst="roundRect">
            <a:avLst/>
          </a:prstGeom>
          <a:solidFill>
            <a:srgbClr val="14203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907791"/>
            <a:ext cx="1234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8FAFC"/>
                </a:solidFill>
                <a:latin typeface="Aptos"/>
              </a:rPr>
              <a:t>INSIGHT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589788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Axlero Solutions  |  August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01  | 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25880"/>
            <a:ext cx="6583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Web analytics workspace: Dashboard, Reports, Analytics, Chat, Profile and Settings.</a:t>
            </a:r>
          </a:p>
          <a:p>
            <a:pPr>
              <a:spcAft>
                <a:spcPts val="8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Natural-language business questions without requiring users to write SQL.</a:t>
            </a:r>
          </a:p>
          <a:p>
            <a:pPr>
              <a:spcAft>
                <a:spcPts val="8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Controlled metric/filter mapping in the backend query layer.</a:t>
            </a:r>
          </a:p>
          <a:p>
            <a:pPr>
              <a:spcAft>
                <a:spcPts val="8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Multi-step root-cause analysis for European margin questions.</a:t>
            </a:r>
          </a:p>
          <a:p>
            <a:pPr>
              <a:spcAft>
                <a:spcPts val="8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Reasoning steps, data results and query transparency for data-backed answers.</a:t>
            </a:r>
          </a:p>
          <a:p>
            <a:pPr>
              <a:spcAft>
                <a:spcPts val="800"/>
              </a:spcAft>
              <a:defRPr sz="1550">
                <a:solidFill>
                  <a:srgbClr val="F8FAFC"/>
                </a:solidFill>
                <a:latin typeface="Aptos"/>
              </a:defRPr>
            </a:pPr>
            <a:r>
              <a:t>• Light/dark theme correction across cards, tables, forms, errors and chat.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1417320"/>
            <a:ext cx="3520440" cy="11430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1417320"/>
            <a:ext cx="54864" cy="1143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1000" y="15636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CONVERSATIONAL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9476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Ask business questions in plain language.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18120" y="2788920"/>
            <a:ext cx="3520440" cy="11430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818120" y="2788920"/>
            <a:ext cx="54864" cy="11430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29352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GOVERNED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01000" y="33192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Controlled metrics, filters and bounded execution.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818120" y="4160520"/>
            <a:ext cx="3520440" cy="11430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4160520"/>
            <a:ext cx="54864" cy="1143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01000" y="430682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TRACEABLE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690872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Reasoning path, results and query visibility.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02  |  Problem &amp;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71600"/>
            <a:ext cx="3429000" cy="356616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71600"/>
            <a:ext cx="54864" cy="356616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179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F4444"/>
                </a:solidFill>
                <a:latin typeface="Aptos"/>
              </a:rPr>
              <a:t>THE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90195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Unrestricted text-to-SQL can create incorrect joins, inconsistent metric definitions and answers users cannot audit.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29000" cy="356616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371600"/>
            <a:ext cx="54864" cy="35661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5179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BUSINESS NEED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90195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Teams need fast answers, but finance and sales also need consistent definitions, bounded data access and explainable results.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371600"/>
            <a:ext cx="3429000" cy="356616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371600"/>
            <a:ext cx="54864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51790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THE SOLUTION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901952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MetricMind places a controlled query layer between natural language and business data, then returns an auditable business explanation.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62356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F8FAFC"/>
                </a:solidFill>
                <a:latin typeface="Aptos"/>
              </a:rPr>
              <a:t>Natural language → metric/filter selection → controlled query → explanation → visualization / trace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03  |  Solution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234440"/>
            <a:ext cx="9966960" cy="685800"/>
          </a:xfrm>
          <a:prstGeom prst="roundRect">
            <a:avLst/>
          </a:prstGeom>
          <a:solidFill>
            <a:srgbClr val="142039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139903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8BDF8"/>
                </a:solidFill>
                <a:latin typeface="Aptos"/>
              </a:rPr>
              <a:t>USER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138988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Natural-language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06440" y="194767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94A3B8"/>
                </a:solidFill>
                <a:latin typeface="Aptos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2286000"/>
            <a:ext cx="9966960" cy="685800"/>
          </a:xfrm>
          <a:prstGeom prst="roundRect">
            <a:avLst/>
          </a:prstGeom>
          <a:solidFill>
            <a:srgbClr val="14203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245059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563EB"/>
                </a:solidFill>
                <a:latin typeface="Aptos"/>
              </a:rPr>
              <a:t>REACT + VITE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244144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Dashboard • Reports • Analytics • Chat •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6440" y="299923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94A3B8"/>
                </a:solidFill>
                <a:latin typeface="Aptos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3337560"/>
            <a:ext cx="9966960" cy="685800"/>
          </a:xfrm>
          <a:prstGeom prst="roundRect">
            <a:avLst/>
          </a:prstGeom>
          <a:solidFill>
            <a:srgbClr val="142039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" y="35021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0B981"/>
                </a:solidFill>
                <a:latin typeface="Aptos"/>
              </a:rPr>
              <a:t>FASTAPI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49300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Auth • Analytics APIs • Governed business-query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050791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>
                <a:solidFill>
                  <a:srgbClr val="94A3B8"/>
                </a:solidFill>
                <a:latin typeface="Aptos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51560" y="4389120"/>
            <a:ext cx="9966960" cy="685800"/>
          </a:xfrm>
          <a:prstGeom prst="roundRect">
            <a:avLst/>
          </a:prstGeom>
          <a:solidFill>
            <a:srgbClr val="142039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455371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59E0B"/>
                </a:solidFill>
                <a:latin typeface="Aptos"/>
              </a:rPr>
              <a:t>MYSQL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4544568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F8FAFC"/>
                </a:solidFill>
                <a:latin typeface="Aptos"/>
              </a:rPr>
              <a:t>factinternetsales + dimension tables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32120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CBD5E1"/>
                </a:solidFill>
                <a:latin typeface="Aptos"/>
              </a:rPr>
              <a:t>Reference-stack note: the source brief names Next.js/Tremor, Cube.dev/dbt and Snowflake/Databricks. The repository implementation is React + Vite, FastAPI/Python and MySQL; this is documented explicitly.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04  |  Application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383280" cy="155448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7218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1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Executive KPIs, sales trend, recent transactions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25880"/>
            <a:ext cx="3383280" cy="155448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1325880"/>
            <a:ext cx="54864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47218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REPORTS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856231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Reporting-oriented UI and business 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325880"/>
            <a:ext cx="3383280" cy="155448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1325880"/>
            <a:ext cx="54864" cy="1554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47218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856231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Filters, KPI cards, trends and breakdowns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37560"/>
            <a:ext cx="3383280" cy="155448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337560"/>
            <a:ext cx="54864" cy="15544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48386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CHAT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6791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Natural-language questions and AI answers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60" y="3337560"/>
            <a:ext cx="3383280" cy="155448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3337560"/>
            <a:ext cx="54864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48386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PROFILE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86791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Authenticated user profile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75320" y="3337560"/>
            <a:ext cx="3383280" cy="155448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75320" y="3337560"/>
            <a:ext cx="54864" cy="15544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58200" y="3483864"/>
            <a:ext cx="3063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SETTINGS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867912"/>
            <a:ext cx="3063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Application preferences and theme controls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05  |  Conversational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566160" cy="841248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4864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0744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Hello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50876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1234440"/>
            <a:ext cx="6309360" cy="841248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92040" y="1234440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1380744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BEHAVIOR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1764792"/>
            <a:ext cx="5989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Conversational response; no database query required.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313432"/>
            <a:ext cx="3566160" cy="841248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313432"/>
            <a:ext cx="54864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2459736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QUESTION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843784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Q3 Revenue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5877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2313432"/>
            <a:ext cx="6309360" cy="841248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2313432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74920" y="2459736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BEHAVIOR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2843784"/>
            <a:ext cx="5989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Revenue metric + quarter filter → controlled query → answer.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392424"/>
            <a:ext cx="3566160" cy="841248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1520" y="3392424"/>
            <a:ext cx="54864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3538728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QUESTION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922776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Show me European sales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366674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92040" y="3392424"/>
            <a:ext cx="6309360" cy="841248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92040" y="3392424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74920" y="3538728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BEHAVIOR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74920" y="3922776"/>
            <a:ext cx="5989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Europe filter → sales result → business explanation.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4471416"/>
            <a:ext cx="3566160" cy="841248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4471416"/>
            <a:ext cx="54864" cy="84124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617720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QUESTION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001768"/>
            <a:ext cx="3246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Why did sales go up?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0560" y="4745736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38BDF8"/>
                </a:solidFill>
                <a:latin typeface="Aptos"/>
              </a:rP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92040" y="4471416"/>
            <a:ext cx="6309360" cy="841248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892040" y="4471416"/>
            <a:ext cx="54864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74920" y="4617720"/>
            <a:ext cx="5989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BEHAVIOR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74920" y="5001768"/>
            <a:ext cx="59893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Monthly trend → month-over-month comparison → measured increase.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06  |  Multi-Step Root-Cause Reasoning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07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141732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53619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CBD5E1"/>
                </a:solidFill>
                <a:latin typeface="Aptos"/>
              </a:rPr>
              <a:t>Recognize a margin question asking for a reason or decline.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5087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20439" y="141732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39" y="153619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COMPARE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60604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CBD5E1"/>
                </a:solidFill>
                <a:latin typeface="Aptos"/>
              </a:rPr>
              <a:t>Compare the latest two available European quarters.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5087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6309359" y="141732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59" y="153619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59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BREAK 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59" y="260604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CBD5E1"/>
                </a:solidFill>
                <a:latin typeface="Aptos"/>
              </a:rPr>
              <a:t>Compare revenue, product cost and shipping movement.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32519" y="1508760"/>
            <a:ext cx="3200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94A3B8"/>
                </a:solidFill>
                <a:latin typeface="Aptos"/>
              </a:rP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9098280" y="1417320"/>
            <a:ext cx="530352" cy="53035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1536192"/>
            <a:ext cx="5303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8FAFC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8BDF8"/>
                </a:solidFill>
                <a:latin typeface="Aptos"/>
              </a:rPr>
              <a:t>EXPLAIN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606040"/>
            <a:ext cx="2331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>
                <a:solidFill>
                  <a:srgbClr val="CBD5E1"/>
                </a:solidFill>
                <a:latin typeface="Aptos"/>
              </a:rPr>
              <a:t>Identify the largest measured driver without inventing fields.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" y="4983480"/>
            <a:ext cx="10241280" cy="82296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0" y="4983480"/>
            <a:ext cx="54864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5129784"/>
            <a:ext cx="9921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KEY RULE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" y="5513832"/>
            <a:ext cx="9921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Explain only what the dataset exposes; do not invent unavailable cost categories.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07  |  Dynamic Visualization &amp; UX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356616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325880"/>
            <a:ext cx="54864" cy="3566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721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TIME SERIES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56231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Line charts are used for month / quarter / year trends so movement is visible.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526280" y="3657600"/>
            <a:ext cx="502920" cy="50292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029200" y="3657600"/>
            <a:ext cx="502920" cy="22860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532120" y="3017520"/>
            <a:ext cx="502920" cy="86868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35040" y="3017520"/>
            <a:ext cx="502920" cy="36576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537960" y="2514600"/>
            <a:ext cx="502920" cy="868680"/>
          </a:xfrm>
          <a:prstGeom prst="line">
            <a:avLst/>
          </a:prstGeom>
          <a:ln w="38100">
            <a:solidFill>
              <a:srgbClr val="38BD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543800" y="1325880"/>
            <a:ext cx="3429000" cy="356616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43800" y="1325880"/>
            <a:ext cx="54864" cy="35661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1472184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CATEGORICAL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1856231"/>
            <a:ext cx="3108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Bar charts are used for products, countries and other grouped business dimensions.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3611880"/>
            <a:ext cx="301752" cy="9144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595360" y="2697480"/>
            <a:ext cx="301752" cy="1828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98280" y="3200400"/>
            <a:ext cx="301752" cy="1325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2240280"/>
            <a:ext cx="3017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104120" y="2926080"/>
            <a:ext cx="301752" cy="1600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4924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Theme correction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30352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8FAFC"/>
                </a:solidFill>
                <a:latin typeface="Aptos"/>
              </a:rPr>
              <a:t>Shared CSS variables keep cards, tables, forms, errors and chat readable in both light and dark themes.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08  |  Governance, Security &amp;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10698480" cy="73152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097280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243584"/>
            <a:ext cx="10378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NO USER SQL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27631"/>
            <a:ext cx="103784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Direct SQL/database commands are rejected.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029967"/>
            <a:ext cx="10698480" cy="73152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029967"/>
            <a:ext cx="54864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176272"/>
            <a:ext cx="10378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PARAMETERIZED QUERIES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60320"/>
            <a:ext cx="103784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User-derived filters are passed as query parameters.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62656"/>
            <a:ext cx="10698480" cy="73152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2962656"/>
            <a:ext cx="54864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108960"/>
            <a:ext cx="10378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BOUNDED EXECUTION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93008"/>
            <a:ext cx="103784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Governance records query operations and applies limits.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895344"/>
            <a:ext cx="10698480" cy="73152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895344"/>
            <a:ext cx="54864" cy="7315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41648"/>
            <a:ext cx="10378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25696"/>
            <a:ext cx="103784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Reasoning steps, API trace, SQL and parameters are returned where applicable.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28032"/>
            <a:ext cx="10698480" cy="73152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828032"/>
            <a:ext cx="54864" cy="73152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74336"/>
            <a:ext cx="10378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AUTHENTICATION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58384"/>
            <a:ext cx="10378440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Protected routes use bearer-token authentication.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09  |  Requirement &amp; Quality Coverage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09728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Governed business querying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4760" y="109728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Implemented in current FastAPI agent layer</a:t>
            </a:r>
          </a:p>
        </p:txBody>
      </p:sp>
      <p:sp>
        <p:nvSpPr>
          <p:cNvPr id="8" name="Oval 7"/>
          <p:cNvSpPr/>
          <p:nvPr/>
        </p:nvSpPr>
        <p:spPr>
          <a:xfrm>
            <a:off x="10972800" y="112471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Conversational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618488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Implemented in Chat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0" y="164592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3969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Multi-step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139696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Implemented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0" y="2167127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6090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Dynamic visualization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2660904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Implemented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0" y="268833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182111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Cost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182111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Governance layer present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0" y="3209543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94760" y="3703320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Implemented</a:t>
            </a:r>
          </a:p>
        </p:txBody>
      </p:sp>
      <p:sp>
        <p:nvSpPr>
          <p:cNvPr id="23" name="Oval 22"/>
          <p:cNvSpPr/>
          <p:nvPr/>
        </p:nvSpPr>
        <p:spPr>
          <a:xfrm>
            <a:off x="10972800" y="3730752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224528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Dashboard &amp; analytics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94760" y="4224528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Implemented</a:t>
            </a:r>
          </a:p>
        </p:txBody>
      </p:sp>
      <p:sp>
        <p:nvSpPr>
          <p:cNvPr id="26" name="Oval 25"/>
          <p:cNvSpPr/>
          <p:nvPr/>
        </p:nvSpPr>
        <p:spPr>
          <a:xfrm>
            <a:off x="10972800" y="4251960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745736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Authentication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745736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Implemented</a:t>
            </a:r>
          </a:p>
        </p:txBody>
      </p:sp>
      <p:sp>
        <p:nvSpPr>
          <p:cNvPr id="29" name="Oval 28"/>
          <p:cNvSpPr/>
          <p:nvPr/>
        </p:nvSpPr>
        <p:spPr>
          <a:xfrm>
            <a:off x="10972800" y="4773168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266944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20" b="1">
                <a:solidFill>
                  <a:srgbClr val="F8FAFC"/>
                </a:solidFill>
                <a:latin typeface="Aptos"/>
              </a:rPr>
              <a:t>Theme / UX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794760" y="5266944"/>
            <a:ext cx="6949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BD5E1"/>
                </a:solidFill>
                <a:latin typeface="Aptos"/>
              </a:rPr>
              <a:t>Implemented</a:t>
            </a:r>
          </a:p>
        </p:txBody>
      </p:sp>
      <p:sp>
        <p:nvSpPr>
          <p:cNvPr id="32" name="Oval 31"/>
          <p:cNvSpPr/>
          <p:nvPr/>
        </p:nvSpPr>
        <p:spPr>
          <a:xfrm>
            <a:off x="10972800" y="5294376"/>
            <a:ext cx="164592" cy="16459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5715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94A3B8"/>
                </a:solidFill>
                <a:latin typeface="Aptos"/>
              </a:rPr>
              <a:t>Evidence note: source-specific stack requirements are not silently presented as implemented. Functional equivalents are documented separately.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10  |  Team &amp;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3337560" cy="13716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234440"/>
            <a:ext cx="54864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0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SHYAM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647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Team Lead • DevOps • Integration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59" y="1234440"/>
            <a:ext cx="3337560" cy="13716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234440"/>
            <a:ext cx="54864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380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CHETAN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17647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Backend • Agent Orchestration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1234440"/>
            <a:ext cx="3337560" cy="13716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54864" cy="1371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38074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MANSI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7647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Data • Database • Semantic Validation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17520"/>
            <a:ext cx="3337560" cy="13716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017520"/>
            <a:ext cx="54864" cy="13716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1638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YOSHITA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354787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UI • Frontend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80559" y="3017520"/>
            <a:ext cx="3337560" cy="13716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59" y="3017520"/>
            <a:ext cx="54864" cy="13716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31638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563EB"/>
                </a:solidFill>
                <a:latin typeface="Aptos"/>
              </a:rPr>
              <a:t>HIMESH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54787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Frontend • Reassigned 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3017520"/>
            <a:ext cx="3337560" cy="137160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29600" y="3017520"/>
            <a:ext cx="54864" cy="13716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3163824"/>
            <a:ext cx="3017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PRASHANT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354787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QA • API Testing • Documentation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349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Four-phase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48840" y="530352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F8FAFC"/>
                </a:solidFill>
                <a:latin typeface="Aptos"/>
              </a:rPr>
              <a:t>Week 1 foundation → Week 2 semantics/agent logic → Week 3 governance/API → Week 4 reasoning, visualization and polish.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30352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8FAFC"/>
                </a:solidFill>
                <a:latin typeface="Aptos"/>
              </a:rPr>
              <a:t>11  |  Final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473952"/>
            <a:ext cx="9875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METRICMIND  •  AXLERO SOLUTIONS  • 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37376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1">
                <a:solidFill>
                  <a:srgbClr val="94A3B8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8FAFC"/>
                </a:solidFill>
                <a:latin typeface="Aptos"/>
              </a:rPr>
              <a:t>MetricMind is packaged as a complete Project 1 submission set.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3794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Project repository: GitHub branch devops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060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1518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Final presentation: this deck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8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392424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Final report: architecture, implementation, governance, testing and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0B981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169663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8FAFC"/>
                </a:solidFill>
                <a:latin typeface="Aptos"/>
              </a:rPr>
              <a:t>Submission posture: actual implementation separated from source-stack targets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983480"/>
            <a:ext cx="10058400" cy="822960"/>
          </a:xfrm>
          <a:prstGeom prst="roundRect">
            <a:avLst/>
          </a:prstGeom>
          <a:solidFill>
            <a:srgbClr val="142039"/>
          </a:solidFill>
          <a:ln>
            <a:solidFill>
              <a:srgbClr val="2B3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0" y="4983480"/>
            <a:ext cx="54864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129784"/>
            <a:ext cx="9738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8BDF8"/>
                </a:solidFill>
                <a:latin typeface="Aptos"/>
              </a:rPr>
              <a:t>REPOSITORY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513832"/>
            <a:ext cx="9738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CBD5E1"/>
                </a:solidFill>
                <a:latin typeface="Aptos"/>
              </a:rPr>
              <a:t>https://github.com/ShyamVarmora/MetricMind/tree/devops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989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