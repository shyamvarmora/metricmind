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 Bhavimani" userId="9c581bf77d50ea5c" providerId="LiveId" clId="{86DFE956-2028-4483-A42E-9F98672F25D6}"/>
    <pc:docChg chg="custSel modSld">
      <pc:chgData name="Prashant Bhavimani" userId="9c581bf77d50ea5c" providerId="LiveId" clId="{86DFE956-2028-4483-A42E-9F98672F25D6}" dt="2026-08-15T23:41:27.513" v="119" actId="403"/>
      <pc:docMkLst>
        <pc:docMk/>
      </pc:docMkLst>
      <pc:sldChg chg="delSp modSp mod">
        <pc:chgData name="Prashant Bhavimani" userId="9c581bf77d50ea5c" providerId="LiveId" clId="{86DFE956-2028-4483-A42E-9F98672F25D6}" dt="2026-08-15T23:36:38.797" v="2" actId="255"/>
        <pc:sldMkLst>
          <pc:docMk/>
          <pc:sldMk cId="0" sldId="256"/>
        </pc:sldMkLst>
        <pc:spChg chg="mod">
          <ac:chgData name="Prashant Bhavimani" userId="9c581bf77d50ea5c" providerId="LiveId" clId="{86DFE956-2028-4483-A42E-9F98672F25D6}" dt="2026-08-15T23:36:38.797" v="2" actId="255"/>
          <ac:spMkLst>
            <pc:docMk/>
            <pc:sldMk cId="0" sldId="256"/>
            <ac:spMk id="3" creationId="{00000000-0000-0000-0000-000000000000}"/>
          </ac:spMkLst>
        </pc:spChg>
        <pc:spChg chg="del">
          <ac:chgData name="Prashant Bhavimani" userId="9c581bf77d50ea5c" providerId="LiveId" clId="{86DFE956-2028-4483-A42E-9F98672F25D6}" dt="2026-08-15T23:36:30.827" v="1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Prashant Bhavimani" userId="9c581bf77d50ea5c" providerId="LiveId" clId="{86DFE956-2028-4483-A42E-9F98672F25D6}" dt="2026-08-15T23:36:06.733" v="0" actId="255"/>
          <ac:spMkLst>
            <pc:docMk/>
            <pc:sldMk cId="0" sldId="256"/>
            <ac:spMk id="46" creationId="{00000000-0000-0000-0000-000000000000}"/>
          </ac:spMkLst>
        </pc:spChg>
      </pc:sldChg>
      <pc:sldChg chg="delSp modSp mod">
        <pc:chgData name="Prashant Bhavimani" userId="9c581bf77d50ea5c" providerId="LiveId" clId="{86DFE956-2028-4483-A42E-9F98672F25D6}" dt="2026-08-15T23:37:30.919" v="5" actId="255"/>
        <pc:sldMkLst>
          <pc:docMk/>
          <pc:sldMk cId="0" sldId="257"/>
        </pc:sldMkLst>
        <pc:spChg chg="mod">
          <ac:chgData name="Prashant Bhavimani" userId="9c581bf77d50ea5c" providerId="LiveId" clId="{86DFE956-2028-4483-A42E-9F98672F25D6}" dt="2026-08-15T23:37:30.919" v="5" actId="255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Prashant Bhavimani" userId="9c581bf77d50ea5c" providerId="LiveId" clId="{86DFE956-2028-4483-A42E-9F98672F25D6}" dt="2026-08-15T23:37:21.549" v="4" actId="478"/>
          <ac:spMkLst>
            <pc:docMk/>
            <pc:sldMk cId="0" sldId="257"/>
            <ac:spMk id="7" creationId="{00000000-0000-0000-0000-000000000000}"/>
          </ac:spMkLst>
        </pc:spChg>
      </pc:sldChg>
      <pc:sldChg chg="delSp modSp mod">
        <pc:chgData name="Prashant Bhavimani" userId="9c581bf77d50ea5c" providerId="LiveId" clId="{86DFE956-2028-4483-A42E-9F98672F25D6}" dt="2026-08-15T23:38:02.140" v="7" actId="255"/>
        <pc:sldMkLst>
          <pc:docMk/>
          <pc:sldMk cId="0" sldId="260"/>
        </pc:sldMkLst>
        <pc:spChg chg="mod">
          <ac:chgData name="Prashant Bhavimani" userId="9c581bf77d50ea5c" providerId="LiveId" clId="{86DFE956-2028-4483-A42E-9F98672F25D6}" dt="2026-08-15T23:38:02.140" v="7" actId="255"/>
          <ac:spMkLst>
            <pc:docMk/>
            <pc:sldMk cId="0" sldId="260"/>
            <ac:spMk id="3" creationId="{00000000-0000-0000-0000-000000000000}"/>
          </ac:spMkLst>
        </pc:spChg>
        <pc:spChg chg="del">
          <ac:chgData name="Prashant Bhavimani" userId="9c581bf77d50ea5c" providerId="LiveId" clId="{86DFE956-2028-4483-A42E-9F98672F25D6}" dt="2026-08-15T23:37:54.394" v="6" actId="478"/>
          <ac:spMkLst>
            <pc:docMk/>
            <pc:sldMk cId="0" sldId="260"/>
            <ac:spMk id="7" creationId="{00000000-0000-0000-0000-000000000000}"/>
          </ac:spMkLst>
        </pc:spChg>
      </pc:sldChg>
      <pc:sldChg chg="delSp modSp mod">
        <pc:chgData name="Prashant Bhavimani" userId="9c581bf77d50ea5c" providerId="LiveId" clId="{86DFE956-2028-4483-A42E-9F98672F25D6}" dt="2026-08-15T23:38:24.448" v="9" actId="478"/>
        <pc:sldMkLst>
          <pc:docMk/>
          <pc:sldMk cId="0" sldId="263"/>
        </pc:sldMkLst>
        <pc:spChg chg="del">
          <ac:chgData name="Prashant Bhavimani" userId="9c581bf77d50ea5c" providerId="LiveId" clId="{86DFE956-2028-4483-A42E-9F98672F25D6}" dt="2026-08-15T23:38:24.448" v="9" actId="478"/>
          <ac:spMkLst>
            <pc:docMk/>
            <pc:sldMk cId="0" sldId="263"/>
            <ac:spMk id="7" creationId="{00000000-0000-0000-0000-000000000000}"/>
          </ac:spMkLst>
        </pc:spChg>
        <pc:spChg chg="mod">
          <ac:chgData name="Prashant Bhavimani" userId="9c581bf77d50ea5c" providerId="LiveId" clId="{86DFE956-2028-4483-A42E-9F98672F25D6}" dt="2026-08-15T23:38:19.006" v="8" actId="20577"/>
          <ac:spMkLst>
            <pc:docMk/>
            <pc:sldMk cId="0" sldId="263"/>
            <ac:spMk id="20" creationId="{00000000-0000-0000-0000-000000000000}"/>
          </ac:spMkLst>
        </pc:spChg>
      </pc:sldChg>
      <pc:sldChg chg="delSp mod">
        <pc:chgData name="Prashant Bhavimani" userId="9c581bf77d50ea5c" providerId="LiveId" clId="{86DFE956-2028-4483-A42E-9F98672F25D6}" dt="2026-08-15T23:38:31.809" v="10" actId="478"/>
        <pc:sldMkLst>
          <pc:docMk/>
          <pc:sldMk cId="0" sldId="266"/>
        </pc:sldMkLst>
        <pc:spChg chg="del">
          <ac:chgData name="Prashant Bhavimani" userId="9c581bf77d50ea5c" providerId="LiveId" clId="{86DFE956-2028-4483-A42E-9F98672F25D6}" dt="2026-08-15T23:38:31.809" v="10" actId="478"/>
          <ac:spMkLst>
            <pc:docMk/>
            <pc:sldMk cId="0" sldId="266"/>
            <ac:spMk id="7" creationId="{00000000-0000-0000-0000-000000000000}"/>
          </ac:spMkLst>
        </pc:spChg>
      </pc:sldChg>
      <pc:sldChg chg="modSp mod">
        <pc:chgData name="Prashant Bhavimani" userId="9c581bf77d50ea5c" providerId="LiveId" clId="{86DFE956-2028-4483-A42E-9F98672F25D6}" dt="2026-08-15T23:41:27.513" v="119" actId="403"/>
        <pc:sldMkLst>
          <pc:docMk/>
          <pc:sldMk cId="0" sldId="267"/>
        </pc:sldMkLst>
        <pc:spChg chg="mod">
          <ac:chgData name="Prashant Bhavimani" userId="9c581bf77d50ea5c" providerId="LiveId" clId="{86DFE956-2028-4483-A42E-9F98672F25D6}" dt="2026-08-15T23:41:22.411" v="113" actId="403"/>
          <ac:spMkLst>
            <pc:docMk/>
            <pc:sldMk cId="0" sldId="267"/>
            <ac:spMk id="16" creationId="{00000000-0000-0000-0000-000000000000}"/>
          </ac:spMkLst>
        </pc:spChg>
        <pc:spChg chg="mod">
          <ac:chgData name="Prashant Bhavimani" userId="9c581bf77d50ea5c" providerId="LiveId" clId="{86DFE956-2028-4483-A42E-9F98672F25D6}" dt="2026-08-15T23:41:27.513" v="119" actId="403"/>
          <ac:spMkLst>
            <pc:docMk/>
            <pc:sldMk cId="0" sldId="267"/>
            <ac:spMk id="20" creationId="{00000000-0000-0000-0000-000000000000}"/>
          </ac:spMkLst>
        </pc:spChg>
      </pc:sldChg>
      <pc:sldChg chg="modSp mod">
        <pc:chgData name="Prashant Bhavimani" userId="9c581bf77d50ea5c" providerId="LiveId" clId="{86DFE956-2028-4483-A42E-9F98672F25D6}" dt="2026-08-15T23:40:51.163" v="103" actId="404"/>
        <pc:sldMkLst>
          <pc:docMk/>
          <pc:sldMk cId="0" sldId="269"/>
        </pc:sldMkLst>
        <pc:spChg chg="mod">
          <ac:chgData name="Prashant Bhavimani" userId="9c581bf77d50ea5c" providerId="LiveId" clId="{86DFE956-2028-4483-A42E-9F98672F25D6}" dt="2026-08-15T23:38:49.103" v="30" actId="404"/>
          <ac:spMkLst>
            <pc:docMk/>
            <pc:sldMk cId="0" sldId="269"/>
            <ac:spMk id="10" creationId="{00000000-0000-0000-0000-000000000000}"/>
          </ac:spMkLst>
        </pc:spChg>
        <pc:spChg chg="mod">
          <ac:chgData name="Prashant Bhavimani" userId="9c581bf77d50ea5c" providerId="LiveId" clId="{86DFE956-2028-4483-A42E-9F98672F25D6}" dt="2026-08-15T23:39:11.271" v="52" actId="403"/>
          <ac:spMkLst>
            <pc:docMk/>
            <pc:sldMk cId="0" sldId="269"/>
            <ac:spMk id="11" creationId="{00000000-0000-0000-0000-000000000000}"/>
          </ac:spMkLst>
        </pc:spChg>
        <pc:spChg chg="mod">
          <ac:chgData name="Prashant Bhavimani" userId="9c581bf77d50ea5c" providerId="LiveId" clId="{86DFE956-2028-4483-A42E-9F98672F25D6}" dt="2026-08-15T23:39:17.949" v="60" actId="403"/>
          <ac:spMkLst>
            <pc:docMk/>
            <pc:sldMk cId="0" sldId="269"/>
            <ac:spMk id="14" creationId="{00000000-0000-0000-0000-000000000000}"/>
          </ac:spMkLst>
        </pc:spChg>
        <pc:spChg chg="mod">
          <ac:chgData name="Prashant Bhavimani" userId="9c581bf77d50ea5c" providerId="LiveId" clId="{86DFE956-2028-4483-A42E-9F98672F25D6}" dt="2026-08-15T23:39:25.154" v="68" actId="403"/>
          <ac:spMkLst>
            <pc:docMk/>
            <pc:sldMk cId="0" sldId="269"/>
            <ac:spMk id="15" creationId="{00000000-0000-0000-0000-000000000000}"/>
          </ac:spMkLst>
        </pc:spChg>
        <pc:spChg chg="mod">
          <ac:chgData name="Prashant Bhavimani" userId="9c581bf77d50ea5c" providerId="LiveId" clId="{86DFE956-2028-4483-A42E-9F98672F25D6}" dt="2026-08-15T23:40:36.953" v="94" actId="255"/>
          <ac:spMkLst>
            <pc:docMk/>
            <pc:sldMk cId="0" sldId="269"/>
            <ac:spMk id="19" creationId="{00000000-0000-0000-0000-000000000000}"/>
          </ac:spMkLst>
        </pc:spChg>
        <pc:spChg chg="mod">
          <ac:chgData name="Prashant Bhavimani" userId="9c581bf77d50ea5c" providerId="LiveId" clId="{86DFE956-2028-4483-A42E-9F98672F25D6}" dt="2026-08-15T23:39:34.196" v="75" actId="403"/>
          <ac:spMkLst>
            <pc:docMk/>
            <pc:sldMk cId="0" sldId="269"/>
            <ac:spMk id="23" creationId="{00000000-0000-0000-0000-000000000000}"/>
          </ac:spMkLst>
        </pc:spChg>
        <pc:spChg chg="mod">
          <ac:chgData name="Prashant Bhavimani" userId="9c581bf77d50ea5c" providerId="LiveId" clId="{86DFE956-2028-4483-A42E-9F98672F25D6}" dt="2026-08-15T23:40:51.163" v="103" actId="404"/>
          <ac:spMkLst>
            <pc:docMk/>
            <pc:sldMk cId="0" sldId="269"/>
            <ac:spMk id="27" creationId="{00000000-0000-0000-0000-000000000000}"/>
          </ac:spMkLst>
        </pc:spChg>
        <pc:spChg chg="mod">
          <ac:chgData name="Prashant Bhavimani" userId="9c581bf77d50ea5c" providerId="LiveId" clId="{86DFE956-2028-4483-A42E-9F98672F25D6}" dt="2026-08-15T23:39:41.236" v="85" actId="403"/>
          <ac:spMkLst>
            <pc:docMk/>
            <pc:sldMk cId="0" sldId="269"/>
            <ac:spMk id="30" creationId="{00000000-0000-0000-0000-000000000000}"/>
          </ac:spMkLst>
        </pc:spChg>
        <pc:spChg chg="mod">
          <ac:chgData name="Prashant Bhavimani" userId="9c581bf77d50ea5c" providerId="LiveId" clId="{86DFE956-2028-4483-A42E-9F98672F25D6}" dt="2026-08-15T23:39:48.821" v="92" actId="403"/>
          <ac:spMkLst>
            <pc:docMk/>
            <pc:sldMk cId="0" sldId="269"/>
            <ac:spMk id="31" creationId="{00000000-0000-0000-0000-000000000000}"/>
          </ac:spMkLst>
        </pc:spChg>
      </pc:sldChg>
      <pc:sldChg chg="delSp modSp mod">
        <pc:chgData name="Prashant Bhavimani" userId="9c581bf77d50ea5c" providerId="LiveId" clId="{86DFE956-2028-4483-A42E-9F98672F25D6}" dt="2026-08-15T23:41:08.029" v="105" actId="403"/>
        <pc:sldMkLst>
          <pc:docMk/>
          <pc:sldMk cId="0" sldId="271"/>
        </pc:sldMkLst>
        <pc:spChg chg="mod">
          <ac:chgData name="Prashant Bhavimani" userId="9c581bf77d50ea5c" providerId="LiveId" clId="{86DFE956-2028-4483-A42E-9F98672F25D6}" dt="2026-08-15T23:41:08.029" v="105" actId="403"/>
          <ac:spMkLst>
            <pc:docMk/>
            <pc:sldMk cId="0" sldId="271"/>
            <ac:spMk id="3" creationId="{00000000-0000-0000-0000-000000000000}"/>
          </ac:spMkLst>
        </pc:spChg>
        <pc:spChg chg="del">
          <ac:chgData name="Prashant Bhavimani" userId="9c581bf77d50ea5c" providerId="LiveId" clId="{86DFE956-2028-4483-A42E-9F98672F25D6}" dt="2026-08-15T23:41:02.576" v="104" actId="478"/>
          <ac:spMkLst>
            <pc:docMk/>
            <pc:sldMk cId="0" sldId="271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4D3E6"/>
          </a:solidFill>
          <a:ln>
            <a:solidFill>
              <a:srgbClr val="2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16459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F8FBFF"/>
                </a:solidFill>
                <a:latin typeface="Aptos"/>
              </a:defRPr>
            </a:pPr>
            <a:r>
              <a:rPr sz="900"/>
              <a:t>METRICMIND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91072"/>
            <a:ext cx="10972800" cy="10972"/>
          </a:xfrm>
          <a:prstGeom prst="rect">
            <a:avLst/>
          </a:prstGeom>
          <a:solidFill>
            <a:srgbClr val="253758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49377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" b="1">
                <a:solidFill>
                  <a:srgbClr val="8EA3C5"/>
                </a:solidFill>
                <a:latin typeface="Aptos"/>
              </a:defRPr>
            </a:pPr>
            <a:r>
              <a:t>AXLERO SOLUTIONS  •  FINAL PROJECT  •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45720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670" b="1">
                <a:solidFill>
                  <a:srgbClr val="8EA3C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24128"/>
            <a:ext cx="2148840" cy="274320"/>
          </a:xfrm>
          <a:prstGeom prst="roundRect">
            <a:avLst>
              <a:gd name="adj" fmla="val 10000"/>
            </a:avLst>
          </a:prstGeom>
          <a:solidFill>
            <a:srgbClr val="0D303D"/>
          </a:solidFill>
          <a:ln>
            <a:solidFill>
              <a:srgbClr val="0D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88136"/>
            <a:ext cx="205740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24D3E6"/>
                </a:solidFill>
                <a:latin typeface="Aptos"/>
              </a:defRPr>
            </a:pPr>
            <a:r>
              <a:t>SIGNATURE • FINAL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6492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700" b="1">
                <a:solidFill>
                  <a:srgbClr val="F8FBFF"/>
                </a:solidFill>
                <a:latin typeface="Aptos Display"/>
              </a:defRPr>
            </a:pPr>
            <a:r>
              <a:t>MetricMind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95728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100" b="1">
                <a:solidFill>
                  <a:srgbClr val="BED6F5"/>
                </a:solidFill>
                <a:latin typeface="Aptos"/>
              </a:defRPr>
            </a:pPr>
            <a:r>
              <a:t>Agentic Semantic BI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44952"/>
            <a:ext cx="6126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50" b="0">
                <a:solidFill>
                  <a:srgbClr val="8EA3C5"/>
                </a:solidFill>
                <a:latin typeface="Aptos"/>
              </a:defRPr>
            </a:pPr>
            <a:r>
              <a:t>A premium conversational analytics workflow that connects</a:t>
            </a:r>
            <a:br/>
            <a:r>
              <a:t>business questions, semantic meaning, governed data and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343400"/>
            <a:ext cx="1645920" cy="96012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" y="4343400"/>
            <a:ext cx="50292" cy="960120"/>
          </a:xfrm>
          <a:prstGeom prst="rect">
            <a:avLst/>
          </a:prstGeom>
          <a:solidFill>
            <a:srgbClr val="4C78FF"/>
          </a:solidFill>
          <a:ln>
            <a:solidFill>
              <a:srgbClr val="4C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4489704"/>
            <a:ext cx="132588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73659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50592" y="4343400"/>
            <a:ext cx="1645920" cy="96012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50592" y="4343400"/>
            <a:ext cx="50292" cy="960120"/>
          </a:xfrm>
          <a:prstGeom prst="rect">
            <a:avLst/>
          </a:prstGeom>
          <a:solidFill>
            <a:srgbClr val="9C66FF"/>
          </a:solidFill>
          <a:ln>
            <a:solidFill>
              <a:srgbClr val="9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33472" y="4489704"/>
            <a:ext cx="132588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473659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4343400"/>
            <a:ext cx="1645920" cy="96012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79392" y="4343400"/>
            <a:ext cx="50292" cy="960120"/>
          </a:xfrm>
          <a:prstGeom prst="rect">
            <a:avLst/>
          </a:prstGeom>
          <a:solidFill>
            <a:srgbClr val="24D3E6"/>
          </a:solidFill>
          <a:ln>
            <a:solidFill>
              <a:srgbClr val="2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62272" y="4489704"/>
            <a:ext cx="132588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473659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914400"/>
            <a:ext cx="4251960" cy="507492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0" y="1252728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>
                <a:solidFill>
                  <a:srgbClr val="24D3E6"/>
                </a:solidFill>
                <a:latin typeface="Aptos"/>
              </a:defRPr>
            </a:pPr>
            <a:r>
              <a:t>THE ANALYTICS LOOP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6448" y="1783080"/>
            <a:ext cx="2606040" cy="502920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56448" y="1783080"/>
            <a:ext cx="45720" cy="502920"/>
          </a:xfrm>
          <a:prstGeom prst="rect">
            <a:avLst/>
          </a:prstGeom>
          <a:solidFill>
            <a:srgbClr val="4C78FF"/>
          </a:solidFill>
          <a:ln>
            <a:solidFill>
              <a:srgbClr val="4C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02752" y="1947672"/>
            <a:ext cx="228600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0" b="1">
                <a:solidFill>
                  <a:srgbClr val="F8FBFF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304288"/>
            <a:ext cx="228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8EA3C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56448" y="2532888"/>
            <a:ext cx="2606040" cy="502920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56448" y="2532888"/>
            <a:ext cx="45720" cy="502920"/>
          </a:xfrm>
          <a:prstGeom prst="rect">
            <a:avLst/>
          </a:prstGeom>
          <a:solidFill>
            <a:srgbClr val="9C66FF"/>
          </a:solidFill>
          <a:ln>
            <a:solidFill>
              <a:srgbClr val="9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02752" y="2697480"/>
            <a:ext cx="228600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0" b="1">
                <a:solidFill>
                  <a:srgbClr val="F8FBFF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054096"/>
            <a:ext cx="228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8EA3C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56448" y="3282696"/>
            <a:ext cx="2606040" cy="502920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56448" y="3282696"/>
            <a:ext cx="45720" cy="502920"/>
          </a:xfrm>
          <a:prstGeom prst="rect">
            <a:avLst/>
          </a:prstGeom>
          <a:solidFill>
            <a:srgbClr val="30D397"/>
          </a:solidFill>
          <a:ln>
            <a:solidFill>
              <a:srgbClr val="30D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02752" y="3447288"/>
            <a:ext cx="228600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0" b="1">
                <a:solidFill>
                  <a:srgbClr val="F8FBFF"/>
                </a:solidFill>
                <a:latin typeface="Aptos"/>
              </a:defRPr>
            </a:pPr>
            <a:r>
              <a:t>SEMANTIC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803904"/>
            <a:ext cx="228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8EA3C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56448" y="4032504"/>
            <a:ext cx="2606040" cy="502920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56448" y="4032504"/>
            <a:ext cx="45720" cy="502920"/>
          </a:xfrm>
          <a:prstGeom prst="rect">
            <a:avLst/>
          </a:prstGeom>
          <a:solidFill>
            <a:srgbClr val="24D3E6"/>
          </a:solidFill>
          <a:ln>
            <a:solidFill>
              <a:srgbClr val="2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02752" y="4197096"/>
            <a:ext cx="228600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0" b="1">
                <a:solidFill>
                  <a:srgbClr val="F8FB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4553712"/>
            <a:ext cx="228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8EA3C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56448" y="4782312"/>
            <a:ext cx="2606040" cy="502920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56448" y="4782312"/>
            <a:ext cx="45720" cy="502920"/>
          </a:xfrm>
          <a:prstGeom prst="rect">
            <a:avLst/>
          </a:prstGeom>
          <a:solidFill>
            <a:srgbClr val="F9B53E"/>
          </a:solidFill>
          <a:ln>
            <a:solidFill>
              <a:srgbClr val="F9B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02752" y="4946903"/>
            <a:ext cx="228600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0" b="1">
                <a:solidFill>
                  <a:srgbClr val="F8FBFF"/>
                </a:solidFill>
                <a:latin typeface="Aptos"/>
              </a:defRPr>
            </a:pPr>
            <a:r>
              <a:t>ANSWER + CHART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5687568"/>
            <a:ext cx="6858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40" b="0">
                <a:solidFill>
                  <a:srgbClr val="8EA3C5"/>
                </a:solidFill>
                <a:latin typeface="Aptos"/>
              </a:defRPr>
            </a:pPr>
            <a:r>
              <a:rPr sz="2000" dirty="0"/>
              <a:t>Shyam • Chetan • Mansi • Himesh • Yoshita • Prashant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4C78FF"/>
          </a:solidFill>
          <a:ln>
            <a:solidFill>
              <a:srgbClr val="4C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16459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F8FBFF"/>
                </a:solidFill>
                <a:latin typeface="Aptos"/>
              </a:defRPr>
            </a:pPr>
            <a:r>
              <a:rPr sz="900" dirty="0"/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65176"/>
            <a:ext cx="32461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20" b="1">
                <a:solidFill>
                  <a:srgbClr val="8EA3C5"/>
                </a:solidFill>
                <a:latin typeface="Aptos"/>
              </a:defRPr>
            </a:pPr>
            <a:r>
              <a:t>EXECUTIVE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91072"/>
            <a:ext cx="10972800" cy="10972"/>
          </a:xfrm>
          <a:prstGeom prst="rect">
            <a:avLst/>
          </a:prstGeom>
          <a:solidFill>
            <a:srgbClr val="253758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49377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" b="1">
                <a:solidFill>
                  <a:srgbClr val="8EA3C5"/>
                </a:solidFill>
                <a:latin typeface="Aptos"/>
              </a:defRPr>
            </a:pPr>
            <a:r>
              <a:t>AXLERO SOLUTIONS  •  FINAL PROJECT  • 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rPr dirty="0"/>
              <a:t>The final story in one screen.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2710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8EA3C5"/>
                </a:solidFill>
                <a:latin typeface="Aptos"/>
              </a:defRPr>
            </a:pPr>
            <a:r>
              <a:t>Problem → architecture → semantic layer → agentic reasoning →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74519"/>
            <a:ext cx="2487168" cy="214884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1247" y="2103120"/>
            <a:ext cx="438912" cy="274320"/>
          </a:xfrm>
          <a:prstGeom prst="roundRect">
            <a:avLst>
              <a:gd name="adj" fmla="val 10000"/>
            </a:avLst>
          </a:prstGeom>
          <a:solidFill>
            <a:srgbClr val="F25767"/>
          </a:solidFill>
          <a:ln>
            <a:solidFill>
              <a:srgbClr val="F25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167127"/>
            <a:ext cx="347472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60604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BF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06324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>
                <a:solidFill>
                  <a:srgbClr val="8EA3C5"/>
                </a:solidFill>
                <a:latin typeface="Aptos"/>
              </a:defRPr>
            </a:pPr>
            <a:r>
              <a:t>Incorrect joins + metric 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2761488"/>
            <a:ext cx="2560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8EA3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3008" y="1874519"/>
            <a:ext cx="2487168" cy="214884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75888" y="2103120"/>
            <a:ext cx="438912" cy="274320"/>
          </a:xfrm>
          <a:prstGeom prst="roundRect">
            <a:avLst>
              <a:gd name="adj" fmla="val 10000"/>
            </a:avLst>
          </a:prstGeom>
          <a:solidFill>
            <a:srgbClr val="9C66FF"/>
          </a:solidFill>
          <a:ln>
            <a:solidFill>
              <a:srgbClr val="9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21608" y="2167127"/>
            <a:ext cx="347472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260604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BFF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306324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>
                <a:solidFill>
                  <a:srgbClr val="8EA3C5"/>
                </a:solidFill>
                <a:latin typeface="Aptos"/>
              </a:defRPr>
            </a:pPr>
            <a:r>
              <a:t>Agent + semantic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761488"/>
            <a:ext cx="2560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8EA3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7648" y="1874519"/>
            <a:ext cx="2487168" cy="214884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10528" y="2103120"/>
            <a:ext cx="438912" cy="274320"/>
          </a:xfrm>
          <a:prstGeom prst="roundRect">
            <a:avLst>
              <a:gd name="adj" fmla="val 10000"/>
            </a:avLst>
          </a:prstGeom>
          <a:solidFill>
            <a:srgbClr val="30D397"/>
          </a:solidFill>
          <a:ln>
            <a:solidFill>
              <a:srgbClr val="30D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6248" y="2167127"/>
            <a:ext cx="347472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60604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BFF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06324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>
                <a:solidFill>
                  <a:srgbClr val="8EA3C5"/>
                </a:solidFill>
                <a:latin typeface="Aptos"/>
              </a:defRPr>
            </a:pPr>
            <a:r>
              <a:t>Multi-step root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761488"/>
            <a:ext cx="2560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8EA3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62288" y="1874519"/>
            <a:ext cx="2487168" cy="214884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345168" y="2103120"/>
            <a:ext cx="438912" cy="274320"/>
          </a:xfrm>
          <a:prstGeom prst="roundRect">
            <a:avLst>
              <a:gd name="adj" fmla="val 10000"/>
            </a:avLst>
          </a:prstGeom>
          <a:solidFill>
            <a:srgbClr val="24D3E6"/>
          </a:solidFill>
          <a:ln>
            <a:solidFill>
              <a:srgbClr val="2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90888" y="2167127"/>
            <a:ext cx="347472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8" y="260604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BF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306324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>
                <a:solidFill>
                  <a:srgbClr val="8EA3C5"/>
                </a:solidFill>
                <a:latin typeface="Aptos"/>
              </a:defRPr>
            </a:pPr>
            <a:r>
              <a:t>UI + API + testing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434840"/>
            <a:ext cx="10332720" cy="960120"/>
          </a:xfrm>
          <a:prstGeom prst="roundRect">
            <a:avLst>
              <a:gd name="adj" fmla="val 10000"/>
            </a:avLst>
          </a:prstGeom>
          <a:solidFill>
            <a:srgbClr val="091E2D"/>
          </a:solidFill>
          <a:ln>
            <a:solidFill>
              <a:srgbClr val="1F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88720" y="4681728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1">
                <a:solidFill>
                  <a:srgbClr val="24D3E6"/>
                </a:solidFill>
                <a:latin typeface="Aptos"/>
              </a:defRPr>
            </a:pPr>
            <a:r>
              <a:t>CORE PRINCIPLE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4599432"/>
            <a:ext cx="8092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F8FBFF"/>
                </a:solidFill>
                <a:latin typeface="Aptos"/>
              </a:defRPr>
            </a:pPr>
            <a:r>
              <a:t>The LLM interacts with the semantic layer rather than directly generating unrestricted raw 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25767"/>
          </a:solidFill>
          <a:ln>
            <a:solidFill>
              <a:srgbClr val="F25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F8FBFF"/>
                </a:solidFill>
                <a:latin typeface="Aptos"/>
              </a:defRPr>
            </a:pPr>
            <a:r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65176"/>
            <a:ext cx="32461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20" b="1">
                <a:solidFill>
                  <a:srgbClr val="8EA3C5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91072"/>
            <a:ext cx="10972800" cy="10972"/>
          </a:xfrm>
          <a:prstGeom prst="rect">
            <a:avLst/>
          </a:prstGeom>
          <a:solidFill>
            <a:srgbClr val="253758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49377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" b="1">
                <a:solidFill>
                  <a:srgbClr val="8EA3C5"/>
                </a:solidFill>
                <a:latin typeface="Aptos"/>
              </a:defRPr>
            </a:pPr>
            <a:r>
              <a:t>AXLERO SOLUTIONS  •  FINAL PROJECT  •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45720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670" b="1">
                <a:solidFill>
                  <a:srgbClr val="8EA3C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Why traditional text-to-SQL breaks trust.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2710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8EA3C5"/>
                </a:solidFill>
                <a:latin typeface="Aptos"/>
              </a:defRPr>
            </a:pPr>
            <a:r>
              <a:t>The problem is not that SQL exists. The problem is who controls meaning and scope.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5166360" cy="388620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2084831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3E1C28"/>
          </a:solidFill>
          <a:ln>
            <a:solidFill>
              <a:srgbClr val="3E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148839"/>
            <a:ext cx="109728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25767"/>
                </a:solidFill>
                <a:latin typeface="Aptos"/>
              </a:defRPr>
            </a:pPr>
            <a:r>
              <a:t>TRADITIONAL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633472"/>
            <a:ext cx="4572000" cy="438912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276148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10" b="1">
                <a:solidFill>
                  <a:srgbClr val="F8FBFF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761488"/>
            <a:ext cx="27432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10" b="0">
                <a:solidFill>
                  <a:srgbClr val="8EA3C5"/>
                </a:solidFill>
                <a:latin typeface="Aptos"/>
              </a:defRPr>
            </a:pPr>
            <a:r>
              <a:t>Natural language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55264"/>
            <a:ext cx="4572000" cy="438912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3383280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10" b="1">
                <a:solidFill>
                  <a:srgbClr val="F8FBFF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383280"/>
            <a:ext cx="27432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10" b="0">
                <a:solidFill>
                  <a:srgbClr val="8EA3C5"/>
                </a:solidFill>
                <a:latin typeface="Aptos"/>
              </a:defRPr>
            </a:pPr>
            <a:r>
              <a:t>Raw 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877056"/>
            <a:ext cx="4572000" cy="438912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4005072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10" b="1">
                <a:solidFill>
                  <a:srgbClr val="F8FBFF"/>
                </a:solidFill>
                <a:latin typeface="Aptos"/>
              </a:defRPr>
            </a:pPr>
            <a:r>
              <a:t>Warehouse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005072"/>
            <a:ext cx="27432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10" b="0">
                <a:solidFill>
                  <a:srgbClr val="8EA3C5"/>
                </a:solidFill>
                <a:latin typeface="Aptos"/>
              </a:defRPr>
            </a:pPr>
            <a:r>
              <a:t>Direct 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498848"/>
            <a:ext cx="4572000" cy="438912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" y="4626864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10" b="1">
                <a:solidFill>
                  <a:srgbClr val="F8FBFF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626864"/>
            <a:ext cx="27432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10" b="0">
                <a:solidFill>
                  <a:srgbClr val="8EA3C5"/>
                </a:solidFill>
                <a:latin typeface="Aptos"/>
              </a:defRPr>
            </a:pPr>
            <a:r>
              <a:t>Metric / join risk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1828800"/>
            <a:ext cx="5440680" cy="3886200"/>
          </a:xfrm>
          <a:prstGeom prst="roundRect">
            <a:avLst>
              <a:gd name="adj" fmla="val 10000"/>
            </a:avLst>
          </a:prstGeom>
          <a:solidFill>
            <a:srgbClr val="0A202A"/>
          </a:solidFill>
          <a:ln>
            <a:solidFill>
              <a:srgbClr val="245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55080" y="2084831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124245"/>
          </a:solidFill>
          <a:ln>
            <a:solidFill>
              <a:srgbClr val="124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2148839"/>
            <a:ext cx="109728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30D397"/>
                </a:solidFill>
                <a:latin typeface="Aptos"/>
              </a:defRPr>
            </a:pPr>
            <a:r>
              <a:t>METRICMIND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65176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F8FBFF"/>
                </a:solidFill>
                <a:latin typeface="Aptos"/>
              </a:defRPr>
            </a:pPr>
            <a:r>
              <a:t>Meaning is governed</a:t>
            </a:r>
            <a:br/>
            <a:r>
              <a:t>before data is returned.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566160"/>
            <a:ext cx="4526280" cy="420624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55080" y="3566160"/>
            <a:ext cx="45720" cy="420624"/>
          </a:xfrm>
          <a:prstGeom prst="rect">
            <a:avLst/>
          </a:prstGeom>
          <a:solidFill>
            <a:srgbClr val="30D397"/>
          </a:solidFill>
          <a:ln>
            <a:solidFill>
              <a:srgbClr val="30D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47104" y="3712463"/>
            <a:ext cx="41605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69" b="1">
                <a:solidFill>
                  <a:srgbClr val="F8FBFF"/>
                </a:solidFill>
                <a:latin typeface="Aptos"/>
              </a:defRPr>
            </a:pPr>
            <a:r>
              <a:t>Shared metric definitions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133087"/>
            <a:ext cx="4526280" cy="420624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4133087"/>
            <a:ext cx="45720" cy="420624"/>
          </a:xfrm>
          <a:prstGeom prst="rect">
            <a:avLst/>
          </a:prstGeom>
          <a:solidFill>
            <a:srgbClr val="24D3E6"/>
          </a:solidFill>
          <a:ln>
            <a:solidFill>
              <a:srgbClr val="2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47104" y="4279392"/>
            <a:ext cx="41605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69" b="1">
                <a:solidFill>
                  <a:srgbClr val="F8FBFF"/>
                </a:solidFill>
                <a:latin typeface="Aptos"/>
              </a:defRPr>
            </a:pPr>
            <a:r>
              <a:t>Bounded query scope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700016"/>
            <a:ext cx="4526280" cy="420624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55080" y="4700016"/>
            <a:ext cx="45720" cy="420624"/>
          </a:xfrm>
          <a:prstGeom prst="rect">
            <a:avLst/>
          </a:prstGeom>
          <a:solidFill>
            <a:srgbClr val="9C66FF"/>
          </a:solidFill>
          <a:ln>
            <a:solidFill>
              <a:srgbClr val="9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47104" y="4846320"/>
            <a:ext cx="41605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69" b="1">
                <a:solidFill>
                  <a:srgbClr val="F8FBFF"/>
                </a:solidFill>
                <a:latin typeface="Aptos"/>
              </a:defRPr>
            </a:pPr>
            <a:r>
              <a:t>Traceable answer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9C66FF"/>
          </a:solidFill>
          <a:ln>
            <a:solidFill>
              <a:srgbClr val="9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F8FBFF"/>
                </a:solidFill>
                <a:latin typeface="Aptos"/>
              </a:defRPr>
            </a:pPr>
            <a:r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65176"/>
            <a:ext cx="32461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20" b="1">
                <a:solidFill>
                  <a:srgbClr val="8EA3C5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91072"/>
            <a:ext cx="10972800" cy="10972"/>
          </a:xfrm>
          <a:prstGeom prst="rect">
            <a:avLst/>
          </a:prstGeom>
          <a:solidFill>
            <a:srgbClr val="253758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49377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" b="1">
                <a:solidFill>
                  <a:srgbClr val="8EA3C5"/>
                </a:solidFill>
                <a:latin typeface="Aptos"/>
              </a:defRPr>
            </a:pPr>
            <a:r>
              <a:t>AXLERO SOLUTIONS  •  FINAL PROJECT  •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45720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670" b="1">
                <a:solidFill>
                  <a:srgbClr val="8EA3C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A clean architecture with one critical boundary.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2710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8EA3C5"/>
                </a:solidFill>
                <a:latin typeface="Aptos"/>
              </a:defRPr>
            </a:pPr>
            <a:r>
              <a:t>Implemented stack + target semantic design are both documented.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37360"/>
            <a:ext cx="7223760" cy="68580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1737360"/>
            <a:ext cx="45720" cy="685800"/>
          </a:xfrm>
          <a:prstGeom prst="rect">
            <a:avLst/>
          </a:prstGeom>
          <a:solidFill>
            <a:srgbClr val="4C78FF"/>
          </a:solidFill>
          <a:ln>
            <a:solidFill>
              <a:srgbClr val="4C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1901952"/>
            <a:ext cx="14173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20" b="1">
                <a:solidFill>
                  <a:srgbClr val="4C78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847088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F8FBFF"/>
                </a:solidFill>
                <a:latin typeface="Aptos"/>
              </a:defRPr>
            </a:pPr>
            <a:r>
              <a:t>React + 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01952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8EA3C5"/>
                </a:solidFill>
                <a:latin typeface="Aptos"/>
              </a:defRPr>
            </a:pPr>
            <a:r>
              <a:t>Dashboard • Reports • Chat •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423160"/>
            <a:ext cx="228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8EA3C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633472"/>
            <a:ext cx="7223760" cy="68580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2633472"/>
            <a:ext cx="45720" cy="685800"/>
          </a:xfrm>
          <a:prstGeom prst="rect">
            <a:avLst/>
          </a:prstGeom>
          <a:solidFill>
            <a:srgbClr val="9C66FF"/>
          </a:solidFill>
          <a:ln>
            <a:solidFill>
              <a:srgbClr val="9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2798064"/>
            <a:ext cx="14173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20" b="1">
                <a:solidFill>
                  <a:srgbClr val="9C66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743200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F8FBFF"/>
                </a:solidFill>
                <a:latin typeface="Aptos"/>
              </a:defRPr>
            </a:pPr>
            <a:r>
              <a:t>FastAPI + 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798064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8EA3C5"/>
                </a:solidFill>
                <a:latin typeface="Aptos"/>
              </a:defRPr>
            </a:pPr>
            <a:r>
              <a:t>REST • Auth • Orchestration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319272"/>
            <a:ext cx="228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8EA3C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529584"/>
            <a:ext cx="7223760" cy="68580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3529584"/>
            <a:ext cx="45720" cy="685800"/>
          </a:xfrm>
          <a:prstGeom prst="rect">
            <a:avLst/>
          </a:prstGeom>
          <a:solidFill>
            <a:srgbClr val="30D397"/>
          </a:solidFill>
          <a:ln>
            <a:solidFill>
              <a:srgbClr val="30D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3694176"/>
            <a:ext cx="14173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20" b="1">
                <a:solidFill>
                  <a:srgbClr val="30D397"/>
                </a:solidFill>
                <a:latin typeface="Aptos"/>
              </a:defRPr>
            </a:pPr>
            <a:r>
              <a:t>SEMANTIC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63931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F8FBFF"/>
                </a:solidFill>
                <a:latin typeface="Aptos"/>
              </a:defRPr>
            </a:pPr>
            <a:r>
              <a:t>Governed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694176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8EA3C5"/>
                </a:solidFill>
                <a:latin typeface="Aptos"/>
              </a:defRPr>
            </a:pPr>
            <a:r>
              <a:t>Revenue • Margin • Cost • Time • Geography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4215383"/>
            <a:ext cx="228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8EA3C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25696"/>
            <a:ext cx="7223760" cy="68580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4425696"/>
            <a:ext cx="45720" cy="685800"/>
          </a:xfrm>
          <a:prstGeom prst="rect">
            <a:avLst/>
          </a:prstGeom>
          <a:solidFill>
            <a:srgbClr val="24D3E6"/>
          </a:solidFill>
          <a:ln>
            <a:solidFill>
              <a:srgbClr val="2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4128" y="4590288"/>
            <a:ext cx="14173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20" b="1">
                <a:solidFill>
                  <a:srgbClr val="24D3E6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535424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F8FBFF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4590288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8EA3C5"/>
                </a:solidFill>
                <a:latin typeface="Aptos"/>
              </a:defRPr>
            </a:pPr>
            <a:r>
              <a:t>Application / analytics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1737360"/>
            <a:ext cx="3017520" cy="214884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503920" y="1975104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30264E"/>
          </a:solidFill>
          <a:ln>
            <a:solidFill>
              <a:srgbClr val="302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49640" y="2039112"/>
            <a:ext cx="109728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9C66FF"/>
                </a:solidFill>
                <a:latin typeface="Aptos"/>
              </a:defRPr>
            </a:pPr>
            <a:r>
              <a:t>SPECIFICATION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487168"/>
            <a:ext cx="2514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F8FBFF"/>
                </a:solidFill>
                <a:latin typeface="Aptos"/>
              </a:defRPr>
            </a:pPr>
            <a:r>
              <a:t>Next.js / Cube.dev /</a:t>
            </a:r>
            <a:br/>
            <a:r>
              <a:t>PostgreSQL appear in the</a:t>
            </a:r>
            <a:br/>
            <a:r>
              <a:t>target architecture.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310128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8EA3C5"/>
                </a:solidFill>
                <a:latin typeface="Aptos"/>
              </a:defRPr>
            </a:pPr>
            <a:r>
              <a:t>Repository implementation uses</a:t>
            </a:r>
            <a:br/>
            <a:r>
              <a:t>React + Vite / FastAPI / MySQL.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4224528"/>
            <a:ext cx="3017520" cy="128016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75320" y="4224528"/>
            <a:ext cx="50292" cy="1280160"/>
          </a:xfrm>
          <a:prstGeom prst="rect">
            <a:avLst/>
          </a:prstGeom>
          <a:solidFill>
            <a:srgbClr val="F25767"/>
          </a:solidFill>
          <a:ln>
            <a:solidFill>
              <a:srgbClr val="F25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58200" y="4370832"/>
            <a:ext cx="269747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NON-NEGOTIABLE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617720"/>
            <a:ext cx="26974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NO RAW 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5184648"/>
            <a:ext cx="2697479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70" b="0">
                <a:solidFill>
                  <a:srgbClr val="8EA3C5"/>
                </a:solidFill>
                <a:latin typeface="Aptos"/>
              </a:defRPr>
            </a:pPr>
            <a:r>
              <a:t>Semantic-layer-only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0D397"/>
          </a:solidFill>
          <a:ln>
            <a:solidFill>
              <a:srgbClr val="30D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16459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F8FBFF"/>
                </a:solidFill>
                <a:latin typeface="Aptos"/>
              </a:defRPr>
            </a:pPr>
            <a:r>
              <a:rPr sz="900" dirty="0"/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65176"/>
            <a:ext cx="32461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20" b="1">
                <a:solidFill>
                  <a:srgbClr val="8EA3C5"/>
                </a:solidFill>
                <a:latin typeface="Aptos"/>
              </a:defRPr>
            </a:pPr>
            <a:r>
              <a:t>SEMANTIC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91072"/>
            <a:ext cx="10972800" cy="10972"/>
          </a:xfrm>
          <a:prstGeom prst="rect">
            <a:avLst/>
          </a:prstGeom>
          <a:solidFill>
            <a:srgbClr val="253758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49377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" b="1">
                <a:solidFill>
                  <a:srgbClr val="8EA3C5"/>
                </a:solidFill>
                <a:latin typeface="Aptos"/>
              </a:defRPr>
            </a:pPr>
            <a:r>
              <a:t>AXLERO SOLUTIONS  •  FINAL PROJECT  • 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Semantic layer: the business contract.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2710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8EA3C5"/>
                </a:solidFill>
                <a:latin typeface="Aptos"/>
              </a:defRPr>
            </a:pPr>
            <a:r>
              <a:t>A shared catalog reduces ambiguity across questions, formulas and dimensions.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5074920" cy="361188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46320" y="1993392"/>
            <a:ext cx="2240280" cy="274320"/>
          </a:xfrm>
          <a:prstGeom prst="roundRect">
            <a:avLst>
              <a:gd name="adj" fmla="val 10000"/>
            </a:avLst>
          </a:prstGeom>
          <a:solidFill>
            <a:srgbClr val="124337"/>
          </a:solidFill>
          <a:ln>
            <a:solidFill>
              <a:srgbClr val="124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2057400"/>
            <a:ext cx="214884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30D397"/>
                </a:solidFill>
                <a:latin typeface="Aptos"/>
              </a:defRPr>
            </a:pPr>
            <a:r>
              <a:t>METRIC CATALOG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560320"/>
            <a:ext cx="1874519" cy="438912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67912" y="2697479"/>
            <a:ext cx="171907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40" b="1">
                <a:solidFill>
                  <a:srgbClr val="F8FBFF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560320"/>
            <a:ext cx="1874519" cy="438912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08192" y="2697479"/>
            <a:ext cx="171907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40" b="1">
                <a:solidFill>
                  <a:srgbClr val="F8FBFF"/>
                </a:solidFill>
                <a:latin typeface="Aptos"/>
              </a:defRPr>
            </a:pPr>
            <a:r>
              <a:t>Margin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3218687"/>
            <a:ext cx="1874519" cy="438912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67912" y="3355847"/>
            <a:ext cx="171907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40" b="1">
                <a:solidFill>
                  <a:srgbClr val="F8FBFF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218687"/>
            <a:ext cx="1874519" cy="438912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08192" y="3355847"/>
            <a:ext cx="171907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40" b="1">
                <a:solidFill>
                  <a:srgbClr val="F8FBFF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3877056"/>
            <a:ext cx="1874519" cy="438912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67912" y="4014216"/>
            <a:ext cx="171907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40" b="1">
                <a:solidFill>
                  <a:srgbClr val="F8FBFF"/>
                </a:solidFill>
                <a:latin typeface="Aptos"/>
              </a:defRPr>
            </a:pPr>
            <a:r>
              <a:t>Geography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3877056"/>
            <a:ext cx="1874519" cy="438912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08192" y="4014216"/>
            <a:ext cx="171907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40" b="1">
                <a:solidFill>
                  <a:srgbClr val="F8FBFF"/>
                </a:solidFill>
                <a:latin typeface="Aptos"/>
              </a:defRPr>
            </a:pPr>
            <a:r>
              <a:t>Product / Customer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2148840"/>
            <a:ext cx="2286000" cy="265176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371600" y="2395728"/>
            <a:ext cx="914400" cy="274320"/>
          </a:xfrm>
          <a:prstGeom prst="roundRect">
            <a:avLst>
              <a:gd name="adj" fmla="val 10000"/>
            </a:avLst>
          </a:prstGeom>
          <a:solidFill>
            <a:srgbClr val="31264D"/>
          </a:solidFill>
          <a:ln>
            <a:solidFill>
              <a:srgbClr val="312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17320" y="2459736"/>
            <a:ext cx="82296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9C66FF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017520"/>
            <a:ext cx="178308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70" b="1">
                <a:solidFill>
                  <a:srgbClr val="F8FBFF"/>
                </a:solidFill>
                <a:latin typeface="Aptos"/>
              </a:defRPr>
            </a:pPr>
            <a:r>
              <a:t>Selects relevant</a:t>
            </a:r>
            <a:br/>
            <a:r>
              <a:t>business meaning</a:t>
            </a:r>
            <a:br/>
            <a:r>
              <a:t>from the question.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320040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8EA3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320040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8EA3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2148840"/>
            <a:ext cx="2286000" cy="265176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646920" y="2395728"/>
            <a:ext cx="914400" cy="274320"/>
          </a:xfrm>
          <a:prstGeom prst="roundRect">
            <a:avLst>
              <a:gd name="adj" fmla="val 10000"/>
            </a:avLst>
          </a:prstGeom>
          <a:solidFill>
            <a:srgbClr val="143E4B"/>
          </a:solidFill>
          <a:ln>
            <a:solidFill>
              <a:srgbClr val="14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92640" y="2459736"/>
            <a:ext cx="82296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24D3E6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017520"/>
            <a:ext cx="182880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70" b="1">
                <a:solidFill>
                  <a:srgbClr val="F8FBFF"/>
                </a:solidFill>
                <a:latin typeface="Aptos"/>
              </a:defRPr>
            </a:pPr>
            <a:r>
              <a:t>Returns governed</a:t>
            </a:r>
            <a:br/>
            <a:r>
              <a:t>results without</a:t>
            </a:r>
            <a:br/>
            <a:r>
              <a:t>free-form 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9C66FF"/>
          </a:solidFill>
          <a:ln>
            <a:solidFill>
              <a:srgbClr val="9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F8FBFF"/>
                </a:solidFill>
                <a:latin typeface="Aptos"/>
              </a:defRPr>
            </a:pPr>
            <a:r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65176"/>
            <a:ext cx="32461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20" b="1">
                <a:solidFill>
                  <a:srgbClr val="8EA3C5"/>
                </a:solidFill>
                <a:latin typeface="Aptos"/>
              </a:defRPr>
            </a:pPr>
            <a:r>
              <a:t>AGENTIC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91072"/>
            <a:ext cx="10972800" cy="10972"/>
          </a:xfrm>
          <a:prstGeom prst="rect">
            <a:avLst/>
          </a:prstGeom>
          <a:solidFill>
            <a:srgbClr val="253758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49377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" b="1">
                <a:solidFill>
                  <a:srgbClr val="8EA3C5"/>
                </a:solidFill>
                <a:latin typeface="Aptos"/>
              </a:defRPr>
            </a:pPr>
            <a:r>
              <a:t>AXLERO SOLUTIONS  •  FINAL PROJECT  •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45720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670" b="1">
                <a:solidFill>
                  <a:srgbClr val="8EA3C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European margin root-cause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2710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8EA3C5"/>
                </a:solidFill>
                <a:latin typeface="Aptos"/>
              </a:defRPr>
            </a:pPr>
            <a:r>
              <a:t>The agent can turn one “why?” into multiple governed analytic steps.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55648"/>
            <a:ext cx="10698480" cy="749808"/>
          </a:xfrm>
          <a:prstGeom prst="roundRect">
            <a:avLst>
              <a:gd name="adj" fmla="val 10000"/>
            </a:avLst>
          </a:prstGeom>
          <a:solidFill>
            <a:srgbClr val="14203A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002536"/>
            <a:ext cx="10287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F8FBFF"/>
                </a:solidFill>
                <a:latin typeface="Aptos"/>
              </a:defRPr>
            </a:pPr>
            <a:r>
              <a:t>“Why did our European margins drop last quarter?”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17520"/>
            <a:ext cx="1783080" cy="82296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3017520"/>
            <a:ext cx="45720" cy="822960"/>
          </a:xfrm>
          <a:prstGeom prst="rect">
            <a:avLst/>
          </a:prstGeom>
          <a:solidFill>
            <a:srgbClr val="9C66FF"/>
          </a:solidFill>
          <a:ln>
            <a:solidFill>
              <a:srgbClr val="9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328416"/>
            <a:ext cx="160020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40" b="1">
                <a:solidFill>
                  <a:srgbClr val="F8FBFF"/>
                </a:solidFill>
                <a:latin typeface="Aptos"/>
              </a:defRPr>
            </a:pPr>
            <a:r>
              <a:t>MARGIN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327355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8EA3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61487" y="3017520"/>
            <a:ext cx="1627632" cy="82296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61487" y="3017520"/>
            <a:ext cx="45720" cy="822960"/>
          </a:xfrm>
          <a:prstGeom prst="rect">
            <a:avLst/>
          </a:prstGeom>
          <a:solidFill>
            <a:srgbClr val="F9B53E"/>
          </a:solidFill>
          <a:ln>
            <a:solidFill>
              <a:srgbClr val="F9B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52927" y="3328416"/>
            <a:ext cx="1444752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40" b="1">
                <a:solidFill>
                  <a:srgbClr val="F8FBFF"/>
                </a:solidFill>
                <a:latin typeface="Aptos"/>
              </a:defRPr>
            </a:pPr>
            <a:r>
              <a:t>DETECT DROP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27355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8EA3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59" y="3017520"/>
            <a:ext cx="1938528" cy="82296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09159" y="3017520"/>
            <a:ext cx="45720" cy="822960"/>
          </a:xfrm>
          <a:prstGeom prst="rect">
            <a:avLst/>
          </a:prstGeom>
          <a:solidFill>
            <a:srgbClr val="30D397"/>
          </a:solidFill>
          <a:ln>
            <a:solidFill>
              <a:srgbClr val="30D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599" y="3328416"/>
            <a:ext cx="1755648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40" b="1">
                <a:solidFill>
                  <a:srgbClr val="F8FBFF"/>
                </a:solidFill>
                <a:latin typeface="Aptos"/>
              </a:defRPr>
            </a:pPr>
            <a:r>
              <a:t>COST BREAKDOWN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7" y="327355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8EA3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67727" y="3017520"/>
            <a:ext cx="2651760" cy="82296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67727" y="3017520"/>
            <a:ext cx="45720" cy="822960"/>
          </a:xfrm>
          <a:prstGeom prst="rect">
            <a:avLst/>
          </a:prstGeom>
          <a:solidFill>
            <a:srgbClr val="24D3E6"/>
          </a:solidFill>
          <a:ln>
            <a:solidFill>
              <a:srgbClr val="2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9167" y="3328416"/>
            <a:ext cx="2468879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40" b="1">
                <a:solidFill>
                  <a:srgbClr val="F8FBFF"/>
                </a:solidFill>
                <a:latin typeface="Aptos"/>
              </a:defRPr>
            </a:pPr>
            <a:r>
              <a:t>SHIPPING / MATERIAL / OTHER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208" y="327355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8EA3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39528" y="3017520"/>
            <a:ext cx="1691640" cy="82296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939528" y="3017520"/>
            <a:ext cx="45720" cy="822960"/>
          </a:xfrm>
          <a:prstGeom prst="rect">
            <a:avLst/>
          </a:prstGeom>
          <a:solidFill>
            <a:srgbClr val="F25767"/>
          </a:solidFill>
          <a:ln>
            <a:solidFill>
              <a:srgbClr val="F25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30967" y="3328416"/>
            <a:ext cx="150876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40" b="1">
                <a:solidFill>
                  <a:srgbClr val="F8FBFF"/>
                </a:solidFill>
                <a:latin typeface="Aptos"/>
              </a:defRPr>
            </a:pPr>
            <a:r>
              <a:t>ROOT CAUSE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4572000"/>
            <a:ext cx="8549640" cy="73152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84831" y="4828032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1">
                <a:solidFill>
                  <a:srgbClr val="30D397"/>
                </a:solidFill>
                <a:latin typeface="Aptos"/>
              </a:defRPr>
            </a:pPr>
            <a:r>
              <a:t>FINAL 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773168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1">
                <a:solidFill>
                  <a:srgbClr val="F8FBFF"/>
                </a:solidFill>
                <a:latin typeface="Aptos"/>
              </a:defRPr>
            </a:pPr>
            <a:r>
              <a:t>Business-friendly explanation supported by the reasoning 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0D397"/>
          </a:solidFill>
          <a:ln>
            <a:solidFill>
              <a:srgbClr val="30D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F8FBFF"/>
                </a:solidFill>
                <a:latin typeface="Aptos"/>
              </a:defRPr>
            </a:pPr>
            <a:r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65176"/>
            <a:ext cx="32461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20" b="1">
                <a:solidFill>
                  <a:srgbClr val="8EA3C5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91072"/>
            <a:ext cx="10972800" cy="10972"/>
          </a:xfrm>
          <a:prstGeom prst="rect">
            <a:avLst/>
          </a:prstGeom>
          <a:solidFill>
            <a:srgbClr val="253758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49377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" b="1">
                <a:solidFill>
                  <a:srgbClr val="8EA3C5"/>
                </a:solidFill>
                <a:latin typeface="Aptos"/>
              </a:defRPr>
            </a:pPr>
            <a:r>
              <a:t>AXLERO SOLUTIONS  •  FINAL PROJECT  •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45720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670" b="1">
                <a:solidFill>
                  <a:srgbClr val="8EA3C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Hard limits. Clear trace. Controlled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50292" cy="1417320"/>
          </a:xfrm>
          <a:prstGeom prst="rect">
            <a:avLst/>
          </a:prstGeom>
          <a:solidFill>
            <a:srgbClr val="30D397"/>
          </a:solidFill>
          <a:ln>
            <a:solidFill>
              <a:srgbClr val="30D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975104"/>
            <a:ext cx="30632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MAX QUERIES / 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2199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926079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70" b="0">
                <a:solidFill>
                  <a:srgbClr val="8EA3C5"/>
                </a:solidFill>
                <a:latin typeface="Aptos"/>
              </a:defRPr>
            </a:pPr>
            <a:r>
              <a:t>Per conversational turn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82880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07408" y="1828800"/>
            <a:ext cx="50292" cy="1417320"/>
          </a:xfrm>
          <a:prstGeom prst="rect">
            <a:avLst/>
          </a:prstGeom>
          <a:solidFill>
            <a:srgbClr val="24D3E6"/>
          </a:solidFill>
          <a:ln>
            <a:solidFill>
              <a:srgbClr val="2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288" y="1975104"/>
            <a:ext cx="30632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MAX ROWS /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22199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926079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70" b="0">
                <a:solidFill>
                  <a:srgbClr val="8EA3C5"/>
                </a:solidFill>
                <a:latin typeface="Aptos"/>
              </a:defRPr>
            </a:pPr>
            <a:r>
              <a:t>Per query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6448" y="182880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56448" y="1828800"/>
            <a:ext cx="50292" cy="1417320"/>
          </a:xfrm>
          <a:prstGeom prst="rect">
            <a:avLst/>
          </a:prstGeom>
          <a:solidFill>
            <a:srgbClr val="F25767"/>
          </a:solidFill>
          <a:ln>
            <a:solidFill>
              <a:srgbClr val="F25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9327" y="1975104"/>
            <a:ext cx="30632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UNRESTRICTED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222199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926079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70" b="0">
                <a:solidFill>
                  <a:srgbClr val="8EA3C5"/>
                </a:solidFill>
                <a:latin typeface="Aptos"/>
              </a:defRPr>
            </a:pPr>
            <a:r>
              <a:t>Semantic-layer-only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767328"/>
            <a:ext cx="10881360" cy="141732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041648"/>
            <a:ext cx="9601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60" b="1">
                <a:solidFill>
                  <a:srgbClr val="24D3E6"/>
                </a:solidFill>
                <a:latin typeface="Aptos"/>
              </a:defRPr>
            </a:pPr>
            <a:r>
              <a:t>API TRACE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03120" y="3950208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76272" y="4123944"/>
            <a:ext cx="1225296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60" b="1">
                <a:solidFill>
                  <a:srgbClr val="F8FBFF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4078224"/>
            <a:ext cx="256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8EA3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22191" y="3950208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95344" y="4123944"/>
            <a:ext cx="1225296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60" b="1">
                <a:solidFill>
                  <a:srgbClr val="F8FBFF"/>
                </a:solidFill>
                <a:latin typeface="Aptos"/>
              </a:defRPr>
            </a:pPr>
            <a:r>
              <a:t>Intent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1224" y="4078224"/>
            <a:ext cx="256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8EA3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41264" y="3950208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14416" y="4123944"/>
            <a:ext cx="1225296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60" b="1">
                <a:solidFill>
                  <a:srgbClr val="F8FBFF"/>
                </a:solidFill>
                <a:latin typeface="Aptos"/>
              </a:defRPr>
            </a:pPr>
            <a:r>
              <a:t>Query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0296" y="4078224"/>
            <a:ext cx="256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8EA3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60336" y="3950208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33488" y="4123944"/>
            <a:ext cx="1225296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60" b="1">
                <a:solidFill>
                  <a:srgbClr val="F8FBFF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59367" y="4078224"/>
            <a:ext cx="256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8EA3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79408" y="3950208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52560" y="4123944"/>
            <a:ext cx="1225296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60" b="1">
                <a:solidFill>
                  <a:srgbClr val="F8FBFF"/>
                </a:solidFill>
                <a:latin typeface="Aptos"/>
              </a:defRPr>
            </a:pPr>
            <a:r>
              <a:t>Answer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4C78FF"/>
          </a:solidFill>
          <a:ln>
            <a:solidFill>
              <a:srgbClr val="4C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F8FBFF"/>
                </a:solidFill>
                <a:latin typeface="Aptos"/>
              </a:defRPr>
            </a:pPr>
            <a:r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65176"/>
            <a:ext cx="32461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20" b="1">
                <a:solidFill>
                  <a:srgbClr val="8EA3C5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91072"/>
            <a:ext cx="10972800" cy="10972"/>
          </a:xfrm>
          <a:prstGeom prst="rect">
            <a:avLst/>
          </a:prstGeom>
          <a:solidFill>
            <a:srgbClr val="253758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49377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" b="1">
                <a:solidFill>
                  <a:srgbClr val="8EA3C5"/>
                </a:solidFill>
                <a:latin typeface="Aptos"/>
              </a:defRPr>
            </a:pPr>
            <a:r>
              <a:t>AXLERO SOLUTIONS  •  FINAL PROJECT  • 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Dashboard — full visual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2710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8EA3C5"/>
                </a:solidFill>
                <a:latin typeface="Aptos"/>
              </a:defRPr>
            </a:pPr>
            <a:r>
              <a:t>KPI cards, sales graph and recent transactions are shown from the captured 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19072"/>
            <a:ext cx="7498079" cy="4480560"/>
          </a:xfrm>
          <a:prstGeom prst="roundRect">
            <a:avLst>
              <a:gd name="adj" fmla="val 10000"/>
            </a:avLst>
          </a:prstGeom>
          <a:solidFill>
            <a:srgbClr val="EFF4FB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(143)_g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59" y="1994153"/>
            <a:ext cx="7345680" cy="36652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04088" y="5934456"/>
            <a:ext cx="7278623" cy="274320"/>
          </a:xfrm>
          <a:prstGeom prst="roundRect">
            <a:avLst>
              <a:gd name="adj" fmla="val 10000"/>
            </a:avLst>
          </a:prstGeom>
          <a:solidFill>
            <a:srgbClr val="4C78FF"/>
          </a:solidFill>
          <a:ln>
            <a:solidFill>
              <a:srgbClr val="4C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5998464"/>
            <a:ext cx="7187183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t>ACTUAL DASHBOARD SCREENSHOT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1719072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49640" y="1975104"/>
            <a:ext cx="1417320" cy="274320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101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2039112"/>
            <a:ext cx="132588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24D3E6"/>
                </a:solidFill>
                <a:latin typeface="Aptos"/>
              </a:defRPr>
            </a:pPr>
            <a:r>
              <a:t>VISIBLE KPI DETAILS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2542032"/>
            <a:ext cx="2697480" cy="804672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49640" y="2542032"/>
            <a:ext cx="50292" cy="804672"/>
          </a:xfrm>
          <a:prstGeom prst="rect">
            <a:avLst/>
          </a:prstGeom>
          <a:solidFill>
            <a:srgbClr val="4C78FF"/>
          </a:solidFill>
          <a:ln>
            <a:solidFill>
              <a:srgbClr val="4C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32519" y="2688336"/>
            <a:ext cx="23774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19" y="2935224"/>
            <a:ext cx="237744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rPr dirty="0"/>
              <a:t>₹1,20,000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3474720"/>
            <a:ext cx="2697480" cy="804672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49640" y="3474720"/>
            <a:ext cx="50292" cy="804672"/>
          </a:xfrm>
          <a:prstGeom prst="rect">
            <a:avLst/>
          </a:prstGeom>
          <a:solidFill>
            <a:srgbClr val="30D397"/>
          </a:solidFill>
          <a:ln>
            <a:solidFill>
              <a:srgbClr val="30D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32519" y="3621024"/>
            <a:ext cx="23774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19" y="3867911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150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49640" y="4407408"/>
            <a:ext cx="2697480" cy="804672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549640" y="4407408"/>
            <a:ext cx="50292" cy="804672"/>
          </a:xfrm>
          <a:prstGeom prst="rect">
            <a:avLst/>
          </a:prstGeom>
          <a:solidFill>
            <a:srgbClr val="F9B53E"/>
          </a:solidFill>
          <a:ln>
            <a:solidFill>
              <a:srgbClr val="F9B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32519" y="4553712"/>
            <a:ext cx="23774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19" y="48006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₹25,000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5449824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40" b="0">
                <a:solidFill>
                  <a:srgbClr val="8EA3C5"/>
                </a:solidFill>
                <a:latin typeface="Aptos"/>
              </a:defRPr>
            </a:pPr>
            <a:r>
              <a:t>Transcribed from the captured dashboard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4D3E6"/>
          </a:solidFill>
          <a:ln>
            <a:solidFill>
              <a:srgbClr val="2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F8FBFF"/>
                </a:solidFill>
                <a:latin typeface="Aptos"/>
              </a:defRPr>
            </a:pPr>
            <a:r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65176"/>
            <a:ext cx="32461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20" b="1">
                <a:solidFill>
                  <a:srgbClr val="8EA3C5"/>
                </a:solidFill>
                <a:latin typeface="Aptos"/>
              </a:defRPr>
            </a:pPr>
            <a:r>
              <a:t>GRAPH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91072"/>
            <a:ext cx="10972800" cy="10972"/>
          </a:xfrm>
          <a:prstGeom prst="rect">
            <a:avLst/>
          </a:prstGeom>
          <a:solidFill>
            <a:srgbClr val="253758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49377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" b="1">
                <a:solidFill>
                  <a:srgbClr val="8EA3C5"/>
                </a:solidFill>
                <a:latin typeface="Aptos"/>
              </a:defRPr>
            </a:pPr>
            <a:r>
              <a:t>AXLERO SOLUTIONS  •  FINAL PROJECT  •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45720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670" b="1">
                <a:solidFill>
                  <a:srgbClr val="8EA3C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Sales overview — graph-first presentation.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2710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8EA3C5"/>
                </a:solidFill>
                <a:latin typeface="Aptos"/>
              </a:defRPr>
            </a:pPr>
            <a:r>
              <a:t>The chart receives its own slide so the visual evidence is easy to inspect.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8229600" cy="4617720"/>
          </a:xfrm>
          <a:prstGeom prst="roundRect">
            <a:avLst>
              <a:gd name="adj" fmla="val 10000"/>
            </a:avLst>
          </a:prstGeom>
          <a:solidFill>
            <a:srgbClr val="EFF4FB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(144)_g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27" y="1764792"/>
            <a:ext cx="8077200" cy="4114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76656" y="5998464"/>
            <a:ext cx="8010144" cy="274320"/>
          </a:xfrm>
          <a:prstGeom prst="roundRect">
            <a:avLst>
              <a:gd name="adj" fmla="val 10000"/>
            </a:avLst>
          </a:prstGeom>
          <a:solidFill>
            <a:srgbClr val="24D3E6"/>
          </a:solidFill>
          <a:ln>
            <a:solidFill>
              <a:srgbClr val="2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6062472"/>
            <a:ext cx="7918704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t>SALES OVERVIEW • ACTUAL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645920"/>
            <a:ext cx="2514600" cy="461772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235440" y="1901952"/>
            <a:ext cx="1005840" cy="274320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101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81160" y="1965960"/>
            <a:ext cx="91440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24D3E6"/>
                </a:solidFill>
                <a:latin typeface="Aptos"/>
              </a:defRPr>
            </a:pPr>
            <a:r>
              <a:t>GRAPH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487168"/>
            <a:ext cx="9144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70048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1">
                <a:solidFill>
                  <a:srgbClr val="F8FBFF"/>
                </a:solidFill>
                <a:latin typeface="Aptos"/>
              </a:defRPr>
            </a:pPr>
            <a:r>
              <a:t>Sales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27248"/>
            <a:ext cx="9144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310128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1">
                <a:solidFill>
                  <a:srgbClr val="F8FBFF"/>
                </a:solidFill>
                <a:latin typeface="Aptos"/>
              </a:defRPr>
            </a:pPr>
            <a:r>
              <a:t>Jan → Jul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767328"/>
            <a:ext cx="9144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950208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1">
                <a:solidFill>
                  <a:srgbClr val="F8FBFF"/>
                </a:solidFill>
                <a:latin typeface="Aptos"/>
              </a:defRPr>
            </a:pPr>
            <a:r>
              <a:t>Monthly trend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407408"/>
            <a:ext cx="9144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590288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1">
                <a:solidFill>
                  <a:srgbClr val="F8FB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53949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40" b="0">
                <a:solidFill>
                  <a:srgbClr val="8EA3C5"/>
                </a:solidFill>
                <a:latin typeface="Aptos"/>
              </a:defRPr>
            </a:pPr>
            <a:r>
              <a:t>No values are invented beyond the visible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4C78FF"/>
          </a:solidFill>
          <a:ln>
            <a:solidFill>
              <a:srgbClr val="4C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F8FBFF"/>
                </a:solidFill>
                <a:latin typeface="Aptos"/>
              </a:defRPr>
            </a:pPr>
            <a:r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65176"/>
            <a:ext cx="32461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20" b="1">
                <a:solidFill>
                  <a:srgbClr val="8EA3C5"/>
                </a:solidFill>
                <a:latin typeface="Aptos"/>
              </a:defRPr>
            </a:pPr>
            <a:r>
              <a:t>UI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91072"/>
            <a:ext cx="10972800" cy="10972"/>
          </a:xfrm>
          <a:prstGeom prst="rect">
            <a:avLst/>
          </a:prstGeom>
          <a:solidFill>
            <a:srgbClr val="253758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49377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" b="1">
                <a:solidFill>
                  <a:srgbClr val="8EA3C5"/>
                </a:solidFill>
                <a:latin typeface="Aptos"/>
              </a:defRPr>
            </a:pPr>
            <a:r>
              <a:t>AXLERO SOLUTIONS  •  FINAL PROJECT  •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45720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670" b="1">
                <a:solidFill>
                  <a:srgbClr val="8EA3C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Screenshots with context — not just decoration.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2710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8EA3C5"/>
                </a:solidFill>
                <a:latin typeface="Aptos"/>
              </a:defRPr>
            </a:pPr>
            <a:r>
              <a:t>Frontend, dashboard and runtime evidence are shown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5486400" cy="4343400"/>
          </a:xfrm>
          <a:prstGeom prst="roundRect">
            <a:avLst>
              <a:gd name="adj" fmla="val 10000"/>
            </a:avLst>
          </a:prstGeom>
          <a:solidFill>
            <a:srgbClr val="EFF4FB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(150)_g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2378202"/>
            <a:ext cx="5334000" cy="27051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04088" y="5769864"/>
            <a:ext cx="5266944" cy="274320"/>
          </a:xfrm>
          <a:prstGeom prst="roundRect">
            <a:avLst>
              <a:gd name="adj" fmla="val 10000"/>
            </a:avLst>
          </a:prstGeom>
          <a:solidFill>
            <a:srgbClr val="4C78FF"/>
          </a:solidFill>
          <a:ln>
            <a:solidFill>
              <a:srgbClr val="4C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5833872"/>
            <a:ext cx="5175504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t>DASHBOARD CAPTURE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5166360" cy="1828800"/>
          </a:xfrm>
          <a:prstGeom prst="roundRect">
            <a:avLst>
              <a:gd name="adj" fmla="val 10000"/>
            </a:avLst>
          </a:prstGeom>
          <a:solidFill>
            <a:srgbClr val="EFF4FB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(145)_g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57172"/>
            <a:ext cx="3520440" cy="143256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464808" y="3255264"/>
            <a:ext cx="4946904" cy="274320"/>
          </a:xfrm>
          <a:prstGeom prst="roundRect">
            <a:avLst>
              <a:gd name="adj" fmla="val 10000"/>
            </a:avLst>
          </a:prstGeom>
          <a:solidFill>
            <a:srgbClr val="24D3E6"/>
          </a:solidFill>
          <a:ln>
            <a:solidFill>
              <a:srgbClr val="2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3319272"/>
            <a:ext cx="4855464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t>FRONTEND • VITE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49039"/>
            <a:ext cx="5166360" cy="2286000"/>
          </a:xfrm>
          <a:prstGeom prst="roundRect">
            <a:avLst>
              <a:gd name="adj" fmla="val 10000"/>
            </a:avLst>
          </a:prstGeom>
          <a:solidFill>
            <a:srgbClr val="EFF4FB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(146)_g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814572"/>
            <a:ext cx="3398520" cy="18897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64808" y="5769864"/>
            <a:ext cx="4946904" cy="274320"/>
          </a:xfrm>
          <a:prstGeom prst="roundRect">
            <a:avLst>
              <a:gd name="adj" fmla="val 10000"/>
            </a:avLst>
          </a:prstGeom>
          <a:solidFill>
            <a:srgbClr val="9C66FF"/>
          </a:solidFill>
          <a:ln>
            <a:solidFill>
              <a:srgbClr val="9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5833872"/>
            <a:ext cx="4855464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t>BACKEND • FASTAPI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9C66FF"/>
          </a:solidFill>
          <a:ln>
            <a:solidFill>
              <a:srgbClr val="9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F8FBFF"/>
                </a:solidFill>
                <a:latin typeface="Aptos"/>
              </a:defRPr>
            </a:pPr>
            <a:r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65176"/>
            <a:ext cx="32461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20" b="1">
                <a:solidFill>
                  <a:srgbClr val="8EA3C5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91072"/>
            <a:ext cx="10972800" cy="10972"/>
          </a:xfrm>
          <a:prstGeom prst="rect">
            <a:avLst/>
          </a:prstGeom>
          <a:solidFill>
            <a:srgbClr val="253758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49377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" b="1">
                <a:solidFill>
                  <a:srgbClr val="8EA3C5"/>
                </a:solidFill>
                <a:latin typeface="Aptos"/>
              </a:defRPr>
            </a:pPr>
            <a:r>
              <a:t>AXLERO SOLUTIONS  •  FINAL PROJECT  • 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Register → Login → Protected Profile.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2710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8EA3C5"/>
                </a:solidFill>
                <a:latin typeface="Aptos"/>
              </a:defRPr>
            </a:pPr>
            <a:r>
              <a:t>Authentication evidence is presented as a complete user journey.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55648"/>
            <a:ext cx="2834640" cy="96012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" y="1755648"/>
            <a:ext cx="50292" cy="960120"/>
          </a:xfrm>
          <a:prstGeom prst="rect">
            <a:avLst/>
          </a:prstGeom>
          <a:solidFill>
            <a:srgbClr val="30D397"/>
          </a:solidFill>
          <a:ln>
            <a:solidFill>
              <a:srgbClr val="30D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25146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4884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201 Created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944368"/>
            <a:ext cx="2834640" cy="96012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2944368"/>
            <a:ext cx="50292" cy="960120"/>
          </a:xfrm>
          <a:prstGeom prst="rect">
            <a:avLst/>
          </a:prstGeom>
          <a:solidFill>
            <a:srgbClr val="4C78FF"/>
          </a:solidFill>
          <a:ln>
            <a:solidFill>
              <a:srgbClr val="4C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090672"/>
            <a:ext cx="25146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33756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200 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4133087"/>
            <a:ext cx="2834640" cy="96012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" y="4133087"/>
            <a:ext cx="50292" cy="960120"/>
          </a:xfrm>
          <a:prstGeom prst="rect">
            <a:avLst/>
          </a:prstGeom>
          <a:solidFill>
            <a:srgbClr val="9C66FF"/>
          </a:solidFill>
          <a:ln>
            <a:solidFill>
              <a:srgbClr val="9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4279392"/>
            <a:ext cx="25146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526279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200 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1755648"/>
            <a:ext cx="7818120" cy="4251960"/>
          </a:xfrm>
          <a:prstGeom prst="roundRect">
            <a:avLst>
              <a:gd name="adj" fmla="val 10000"/>
            </a:avLst>
          </a:prstGeom>
          <a:solidFill>
            <a:srgbClr val="EFF4FB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(121)_g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660" y="1821180"/>
            <a:ext cx="6187440" cy="385572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813048" y="5742432"/>
            <a:ext cx="7598664" cy="274320"/>
          </a:xfrm>
          <a:prstGeom prst="roundRect">
            <a:avLst>
              <a:gd name="adj" fmla="val 10000"/>
            </a:avLst>
          </a:prstGeom>
          <a:solidFill>
            <a:srgbClr val="24D3E6"/>
          </a:solidFill>
          <a:ln>
            <a:solidFill>
              <a:srgbClr val="2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58768" y="5806440"/>
            <a:ext cx="7507224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t>PROTECTED PROFILE • API EVIDENCE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9B53E"/>
          </a:solidFill>
          <a:ln>
            <a:solidFill>
              <a:srgbClr val="F9B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F8FBFF"/>
                </a:solidFill>
                <a:latin typeface="Aptos"/>
              </a:defRPr>
            </a:pPr>
            <a:r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65176"/>
            <a:ext cx="32461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20" b="1">
                <a:solidFill>
                  <a:srgbClr val="8EA3C5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91072"/>
            <a:ext cx="10972800" cy="10972"/>
          </a:xfrm>
          <a:prstGeom prst="rect">
            <a:avLst/>
          </a:prstGeom>
          <a:solidFill>
            <a:srgbClr val="253758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49377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" b="1">
                <a:solidFill>
                  <a:srgbClr val="8EA3C5"/>
                </a:solidFill>
                <a:latin typeface="Aptos"/>
              </a:defRPr>
            </a:pPr>
            <a:r>
              <a:t>AXLERO SOLUTIONS  •  FINAL PROJECT  •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45720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670" b="1">
                <a:solidFill>
                  <a:srgbClr val="8EA3C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Testing is honest — passes and failures are both visible.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148840" cy="1078992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50292" cy="1078992"/>
          </a:xfrm>
          <a:prstGeom prst="rect">
            <a:avLst/>
          </a:prstGeom>
          <a:solidFill>
            <a:srgbClr val="4C78FF"/>
          </a:solidFill>
          <a:ln>
            <a:solidFill>
              <a:srgbClr val="4C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1883664"/>
            <a:ext cx="1828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APIs TESTED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1305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737360"/>
            <a:ext cx="2148840" cy="1078992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17520" y="1737360"/>
            <a:ext cx="50292" cy="1078992"/>
          </a:xfrm>
          <a:prstGeom prst="rect">
            <a:avLst/>
          </a:prstGeom>
          <a:solidFill>
            <a:srgbClr val="30D397"/>
          </a:solidFill>
          <a:ln>
            <a:solidFill>
              <a:srgbClr val="30D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0" y="1883664"/>
            <a:ext cx="1828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PASSED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130552"/>
            <a:ext cx="182880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1737360"/>
            <a:ext cx="2148840" cy="1078992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94960" y="1737360"/>
            <a:ext cx="50292" cy="1078992"/>
          </a:xfrm>
          <a:prstGeom prst="rect">
            <a:avLst/>
          </a:prstGeom>
          <a:solidFill>
            <a:srgbClr val="F25767"/>
          </a:solidFill>
          <a:ln>
            <a:solidFill>
              <a:srgbClr val="F25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77840" y="1883664"/>
            <a:ext cx="1828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FAILED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130552"/>
            <a:ext cx="182880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737360"/>
            <a:ext cx="3520440" cy="1078992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0" y="1737360"/>
            <a:ext cx="50292" cy="1078992"/>
          </a:xfrm>
          <a:prstGeom prst="rect">
            <a:avLst/>
          </a:prstGeom>
          <a:solidFill>
            <a:srgbClr val="F9B53E"/>
          </a:solidFill>
          <a:ln>
            <a:solidFill>
              <a:srgbClr val="F9B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79" y="1883664"/>
            <a:ext cx="32004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OVERALL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13055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PARTIALLY PASSED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154680"/>
            <a:ext cx="5230368" cy="2606040"/>
          </a:xfrm>
          <a:prstGeom prst="roundRect">
            <a:avLst>
              <a:gd name="adj" fmla="val 10000"/>
            </a:avLst>
          </a:prstGeom>
          <a:solidFill>
            <a:srgbClr val="EFF4FB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(138)_g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843" y="3220212"/>
            <a:ext cx="3672840" cy="220980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49808" y="5495544"/>
            <a:ext cx="5010912" cy="274320"/>
          </a:xfrm>
          <a:prstGeom prst="roundRect">
            <a:avLst>
              <a:gd name="adj" fmla="val 10000"/>
            </a:avLst>
          </a:prstGeom>
          <a:solidFill>
            <a:srgbClr val="4C78FF"/>
          </a:solidFill>
          <a:ln>
            <a:solidFill>
              <a:srgbClr val="4C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5559552"/>
            <a:ext cx="4919472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t>TESTING REPORT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9048" y="3154680"/>
            <a:ext cx="5230368" cy="2606040"/>
          </a:xfrm>
          <a:prstGeom prst="roundRect">
            <a:avLst>
              <a:gd name="adj" fmla="val 10000"/>
            </a:avLst>
          </a:prstGeom>
          <a:solidFill>
            <a:srgbClr val="EFF4FB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(139)_g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731" y="3220212"/>
            <a:ext cx="3429000" cy="220980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208776" y="5495544"/>
            <a:ext cx="5010912" cy="274320"/>
          </a:xfrm>
          <a:prstGeom prst="roundRect">
            <a:avLst>
              <a:gd name="adj" fmla="val 10000"/>
            </a:avLst>
          </a:prstGeom>
          <a:solidFill>
            <a:srgbClr val="F25767"/>
          </a:solidFill>
          <a:ln>
            <a:solidFill>
              <a:srgbClr val="F25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54496" y="5559552"/>
            <a:ext cx="4919472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t>BUG REPORT • 3 OPEN BUGS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9B53E"/>
          </a:solidFill>
          <a:ln>
            <a:solidFill>
              <a:srgbClr val="F9B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F8FBFF"/>
                </a:solidFill>
                <a:latin typeface="Aptos"/>
              </a:defRPr>
            </a:pPr>
            <a:r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65176"/>
            <a:ext cx="32461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20" b="1">
                <a:solidFill>
                  <a:srgbClr val="8EA3C5"/>
                </a:solidFill>
                <a:latin typeface="Aptos"/>
              </a:defRPr>
            </a:pPr>
            <a:r>
              <a:t>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91072"/>
            <a:ext cx="10972800" cy="10972"/>
          </a:xfrm>
          <a:prstGeom prst="rect">
            <a:avLst/>
          </a:prstGeom>
          <a:solidFill>
            <a:srgbClr val="253758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49377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" b="1">
                <a:solidFill>
                  <a:srgbClr val="8EA3C5"/>
                </a:solidFill>
                <a:latin typeface="Aptos"/>
              </a:defRPr>
            </a:pPr>
            <a:r>
              <a:t>AXLERO SOLUTIONS  •  FINAL PROJECT  •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45720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670" b="1">
                <a:solidFill>
                  <a:srgbClr val="8EA3C5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A premium presentation needs premium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2710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8EA3C5"/>
                </a:solidFill>
                <a:latin typeface="Aptos"/>
              </a:defRPr>
            </a:pPr>
            <a:r>
              <a:t>Repository structure, documentation and testing records complete the engineering 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37360"/>
            <a:ext cx="5120640" cy="4160520"/>
          </a:xfrm>
          <a:prstGeom prst="roundRect">
            <a:avLst>
              <a:gd name="adj" fmla="val 10000"/>
            </a:avLst>
          </a:prstGeom>
          <a:solidFill>
            <a:srgbClr val="EFF4FB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(137)_g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271" y="1802892"/>
            <a:ext cx="1249680" cy="376427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5632703"/>
            <a:ext cx="4901183" cy="274320"/>
          </a:xfrm>
          <a:prstGeom prst="roundRect">
            <a:avLst>
              <a:gd name="adj" fmla="val 10000"/>
            </a:avLst>
          </a:prstGeom>
          <a:solidFill>
            <a:srgbClr val="F9B53E"/>
          </a:solidFill>
          <a:ln>
            <a:solidFill>
              <a:srgbClr val="F9B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5696712"/>
            <a:ext cx="4809744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t>REPOSITORY STRUCTURE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1737360"/>
            <a:ext cx="5468112" cy="416052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27648" y="1993392"/>
            <a:ext cx="1371600" cy="274320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101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2057400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24D3E6"/>
                </a:solidFill>
                <a:latin typeface="Aptos"/>
              </a:defRPr>
            </a:pPr>
            <a:r>
              <a:t>DOCUMENTATION 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560320"/>
            <a:ext cx="2148840" cy="603504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7376" y="2679191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80" b="1">
                <a:solidFill>
                  <a:srgbClr val="F8FBFF"/>
                </a:solidFill>
                <a:latin typeface="Aptos"/>
              </a:defRPr>
            </a:pPr>
            <a:r>
              <a:t>README.md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871215"/>
            <a:ext cx="192024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80" b="0">
                <a:solidFill>
                  <a:srgbClr val="8EA3C5"/>
                </a:solidFill>
                <a:latin typeface="Aptos"/>
              </a:defRPr>
            </a:pPr>
            <a:r>
              <a:t>Project overview + setup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3337560"/>
            <a:ext cx="2148840" cy="603504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6" y="3456432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80" b="1">
                <a:solidFill>
                  <a:srgbClr val="F8FBFF"/>
                </a:solidFill>
                <a:latin typeface="Aptos"/>
              </a:defRPr>
            </a:pPr>
            <a:r>
              <a:t>API.md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648456"/>
            <a:ext cx="192024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80" b="0">
                <a:solidFill>
                  <a:srgbClr val="8EA3C5"/>
                </a:solidFill>
                <a:latin typeface="Aptos"/>
              </a:defRPr>
            </a:pPr>
            <a:r>
              <a:t>Endpoint documentation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4114800"/>
            <a:ext cx="2148840" cy="603504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37376" y="4233672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80" b="1">
                <a:solidFill>
                  <a:srgbClr val="F8FBFF"/>
                </a:solidFill>
                <a:latin typeface="Aptos"/>
              </a:defRPr>
            </a:pPr>
            <a:r>
              <a:t>TESTING.md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425696"/>
            <a:ext cx="192024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80" b="0">
                <a:solidFill>
                  <a:srgbClr val="8EA3C5"/>
                </a:solidFill>
                <a:latin typeface="Aptos"/>
              </a:defRPr>
            </a:pPr>
            <a:r>
              <a:t>Manual test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50808" y="2560320"/>
            <a:ext cx="2148840" cy="603504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0536" y="2679191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80" b="1">
                <a:solidFill>
                  <a:srgbClr val="F8FBFF"/>
                </a:solidFill>
                <a:latin typeface="Aptos"/>
              </a:defRPr>
            </a:pPr>
            <a:r>
              <a:t>BUG_REPORT.md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0536" y="2871215"/>
            <a:ext cx="192024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80" b="0">
                <a:solidFill>
                  <a:srgbClr val="8EA3C5"/>
                </a:solidFill>
                <a:latin typeface="Aptos"/>
              </a:defRPr>
            </a:pPr>
            <a:r>
              <a:t>Known defects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50808" y="3337560"/>
            <a:ext cx="2148840" cy="603504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0536" y="3456432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80" b="1">
                <a:solidFill>
                  <a:srgbClr val="F8FBFF"/>
                </a:solidFill>
                <a:latin typeface="Aptos"/>
              </a:defRPr>
            </a:pPr>
            <a:r>
              <a:t>INSTALLATION.md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0536" y="3648456"/>
            <a:ext cx="192024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80" b="0">
                <a:solidFill>
                  <a:srgbClr val="8EA3C5"/>
                </a:solidFill>
                <a:latin typeface="Aptos"/>
              </a:defRPr>
            </a:pPr>
            <a:r>
              <a:t>Environment setup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50808" y="4114800"/>
            <a:ext cx="2148840" cy="603504"/>
          </a:xfrm>
          <a:prstGeom prst="roundRect">
            <a:avLst>
              <a:gd name="adj" fmla="val 10000"/>
            </a:avLst>
          </a:prstGeom>
          <a:solidFill>
            <a:srgbClr val="101C35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0536" y="4233672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80" b="1">
                <a:solidFill>
                  <a:srgbClr val="F8FBFF"/>
                </a:solidFill>
                <a:latin typeface="Aptos"/>
              </a:defRPr>
            </a:pPr>
            <a:r>
              <a:t>USER_GUIDE.md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0536" y="4425696"/>
            <a:ext cx="192024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80" b="0">
                <a:solidFill>
                  <a:srgbClr val="8EA3C5"/>
                </a:solidFill>
                <a:latin typeface="Aptos"/>
              </a:defRPr>
            </a:pPr>
            <a:r>
              <a:t>Usage instructions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9C66FF"/>
          </a:solidFill>
          <a:ln>
            <a:solidFill>
              <a:srgbClr val="9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F8FBFF"/>
                </a:solidFill>
                <a:latin typeface="Aptos"/>
              </a:defRPr>
            </a:pPr>
            <a:r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65176"/>
            <a:ext cx="32461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20" b="1">
                <a:solidFill>
                  <a:srgbClr val="8EA3C5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91072"/>
            <a:ext cx="10972800" cy="10972"/>
          </a:xfrm>
          <a:prstGeom prst="rect">
            <a:avLst/>
          </a:prstGeom>
          <a:solidFill>
            <a:srgbClr val="253758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49377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" b="1">
                <a:solidFill>
                  <a:srgbClr val="8EA3C5"/>
                </a:solidFill>
                <a:latin typeface="Aptos"/>
              </a:defRPr>
            </a:pPr>
            <a:r>
              <a:t>AXLERO SOLUTIONS  •  FINAL PROJECT  •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45720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670" b="1">
                <a:solidFill>
                  <a:srgbClr val="8EA3C5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Six people. One delivery.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5138928" cy="91440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1" y="1984248"/>
            <a:ext cx="1170432" cy="274320"/>
          </a:xfrm>
          <a:prstGeom prst="roundRect">
            <a:avLst>
              <a:gd name="adj" fmla="val 10000"/>
            </a:avLst>
          </a:prstGeom>
          <a:solidFill>
            <a:srgbClr val="4C78FF"/>
          </a:solidFill>
          <a:ln>
            <a:solidFill>
              <a:srgbClr val="4C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850392" y="2048255"/>
            <a:ext cx="107899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rPr sz="1400" dirty="0"/>
              <a:t>SHYAM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39" y="2066543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19" b="1">
                <a:solidFill>
                  <a:srgbClr val="F8FBFF"/>
                </a:solidFill>
                <a:latin typeface="Aptos"/>
              </a:defRPr>
            </a:pPr>
            <a:r>
              <a:t>Team lead • DevOps •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83080"/>
            <a:ext cx="5138928" cy="91440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91072" y="1984248"/>
            <a:ext cx="1170432" cy="274320"/>
          </a:xfrm>
          <a:prstGeom prst="roundRect">
            <a:avLst>
              <a:gd name="adj" fmla="val 10000"/>
            </a:avLst>
          </a:prstGeom>
          <a:solidFill>
            <a:srgbClr val="9C66FF"/>
          </a:solidFill>
          <a:ln>
            <a:solidFill>
              <a:srgbClr val="9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15" name="TextBox 14"/>
          <p:cNvSpPr txBox="1"/>
          <p:nvPr/>
        </p:nvSpPr>
        <p:spPr>
          <a:xfrm>
            <a:off x="6336792" y="2048255"/>
            <a:ext cx="107899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rPr sz="1600" dirty="0"/>
              <a:t>CHETAN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7635240" y="2066543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19" b="1">
                <a:solidFill>
                  <a:srgbClr val="F8FBFF"/>
                </a:solidFill>
                <a:latin typeface="Aptos"/>
              </a:defRPr>
            </a:pPr>
            <a:r>
              <a:t>Backend • Agent orchestration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90088"/>
            <a:ext cx="5138928" cy="91440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4671" y="3191256"/>
            <a:ext cx="1170432" cy="274320"/>
          </a:xfrm>
          <a:prstGeom prst="roundRect">
            <a:avLst>
              <a:gd name="adj" fmla="val 10000"/>
            </a:avLst>
          </a:prstGeom>
          <a:solidFill>
            <a:srgbClr val="30D397"/>
          </a:solidFill>
          <a:ln>
            <a:solidFill>
              <a:srgbClr val="30D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255264"/>
            <a:ext cx="107899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rPr sz="1400" dirty="0"/>
              <a:t>MANSI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39" y="327355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19" b="1">
                <a:solidFill>
                  <a:srgbClr val="F8FBFF"/>
                </a:solidFill>
                <a:latin typeface="Aptos"/>
              </a:defRPr>
            </a:pPr>
            <a:r>
              <a:t>Data • Semantic 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990088"/>
            <a:ext cx="5138928" cy="91440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91072" y="3191256"/>
            <a:ext cx="1170432" cy="274320"/>
          </a:xfrm>
          <a:prstGeom prst="roundRect">
            <a:avLst>
              <a:gd name="adj" fmla="val 10000"/>
            </a:avLst>
          </a:prstGeom>
          <a:solidFill>
            <a:srgbClr val="24D3E6"/>
          </a:solidFill>
          <a:ln>
            <a:solidFill>
              <a:srgbClr val="2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3255264"/>
            <a:ext cx="107899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rPr sz="1400" dirty="0"/>
              <a:t>YOSHITA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27355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19" b="1">
                <a:solidFill>
                  <a:srgbClr val="F8FBFF"/>
                </a:solidFill>
                <a:latin typeface="Aptos"/>
              </a:defRPr>
            </a:pPr>
            <a:r>
              <a:t>UI / Frontend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97096"/>
            <a:ext cx="5138928" cy="91440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4671" y="4398264"/>
            <a:ext cx="1170432" cy="274320"/>
          </a:xfrm>
          <a:prstGeom prst="roundRect">
            <a:avLst>
              <a:gd name="adj" fmla="val 10000"/>
            </a:avLst>
          </a:prstGeom>
          <a:solidFill>
            <a:srgbClr val="F9B53E"/>
          </a:solidFill>
          <a:ln>
            <a:solidFill>
              <a:srgbClr val="F9B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4462272"/>
            <a:ext cx="107899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rPr sz="1400" dirty="0"/>
              <a:t>HIMESH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2148839" y="4480559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19" b="1">
                <a:solidFill>
                  <a:srgbClr val="F8FBFF"/>
                </a:solidFill>
                <a:latin typeface="Aptos"/>
              </a:defRPr>
            </a:pPr>
            <a:r>
              <a:t>Frontend • Reassigned work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197096"/>
            <a:ext cx="5138928" cy="91440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91072" y="4398264"/>
            <a:ext cx="1170432" cy="274320"/>
          </a:xfrm>
          <a:prstGeom prst="roundRect">
            <a:avLst>
              <a:gd name="adj" fmla="val 10000"/>
            </a:avLst>
          </a:prstGeom>
          <a:solidFill>
            <a:srgbClr val="4C78FF"/>
          </a:solidFill>
          <a:ln>
            <a:solidFill>
              <a:srgbClr val="4C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0"/>
          </a:p>
        </p:txBody>
      </p:sp>
      <p:sp>
        <p:nvSpPr>
          <p:cNvPr id="31" name="TextBox 30"/>
          <p:cNvSpPr txBox="1"/>
          <p:nvPr/>
        </p:nvSpPr>
        <p:spPr>
          <a:xfrm>
            <a:off x="6336792" y="4462272"/>
            <a:ext cx="107899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F8FBFF"/>
                </a:solidFill>
                <a:latin typeface="Aptos"/>
              </a:defRPr>
            </a:pPr>
            <a:r>
              <a:rPr sz="1400"/>
              <a:t>PRASHANT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480559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19" b="1">
                <a:solidFill>
                  <a:srgbClr val="F8FBFF"/>
                </a:solidFill>
                <a:latin typeface="Aptos"/>
              </a:defRPr>
            </a:pPr>
            <a:r>
              <a:t>QA • Documentation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4D3E6"/>
          </a:solidFill>
          <a:ln>
            <a:solidFill>
              <a:srgbClr val="2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F8FBFF"/>
                </a:solidFill>
                <a:latin typeface="Aptos"/>
              </a:defRPr>
            </a:pPr>
            <a:r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65176"/>
            <a:ext cx="32461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20" b="1">
                <a:solidFill>
                  <a:srgbClr val="8EA3C5"/>
                </a:solidFill>
                <a:latin typeface="Aptos"/>
              </a:defRPr>
            </a:pPr>
            <a:r>
              <a:t>RESULTS &amp;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91072"/>
            <a:ext cx="10972800" cy="10972"/>
          </a:xfrm>
          <a:prstGeom prst="rect">
            <a:avLst/>
          </a:prstGeom>
          <a:solidFill>
            <a:srgbClr val="253758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49377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" b="1">
                <a:solidFill>
                  <a:srgbClr val="8EA3C5"/>
                </a:solidFill>
                <a:latin typeface="Aptos"/>
              </a:defRPr>
            </a:pPr>
            <a:r>
              <a:t>AXLERO SOLUTIONS  •  FINAL PROJECT  •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45720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670" b="1">
                <a:solidFill>
                  <a:srgbClr val="8EA3C5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Aptos Display"/>
              </a:defRPr>
            </a:pPr>
            <a:r>
              <a:t>What is proven — and what must happen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2710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8EA3C5"/>
                </a:solidFill>
                <a:latin typeface="Aptos"/>
              </a:defRPr>
            </a:pPr>
            <a:r>
              <a:t>A strong final presentation is transparent about project maturity.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2651760" cy="132588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50292" cy="1325880"/>
          </a:xfrm>
          <a:prstGeom prst="rect">
            <a:avLst/>
          </a:prstGeom>
          <a:solidFill>
            <a:srgbClr val="30D397"/>
          </a:solidFill>
          <a:ln>
            <a:solidFill>
              <a:srgbClr val="30D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1975104"/>
            <a:ext cx="23317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PROVEN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22199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UI + Auth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85032" y="1828800"/>
            <a:ext cx="2651760" cy="132588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85032" y="1828800"/>
            <a:ext cx="50292" cy="1325880"/>
          </a:xfrm>
          <a:prstGeom prst="rect">
            <a:avLst/>
          </a:prstGeom>
          <a:solidFill>
            <a:srgbClr val="4C78FF"/>
          </a:solidFill>
          <a:ln>
            <a:solidFill>
              <a:srgbClr val="4C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67912" y="1975104"/>
            <a:ext cx="23317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PROVEN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912" y="222199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Dashboard + charts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11696" y="1828800"/>
            <a:ext cx="2651760" cy="132588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11696" y="1828800"/>
            <a:ext cx="50292" cy="1325880"/>
          </a:xfrm>
          <a:prstGeom prst="rect">
            <a:avLst/>
          </a:prstGeom>
          <a:solidFill>
            <a:srgbClr val="F25767"/>
          </a:solidFill>
          <a:ln>
            <a:solidFill>
              <a:srgbClr val="F25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94576" y="1975104"/>
            <a:ext cx="23317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OPEN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4576" y="222199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6 API failures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1828800"/>
            <a:ext cx="2651760" cy="132588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38360" y="1828800"/>
            <a:ext cx="50292" cy="1325880"/>
          </a:xfrm>
          <a:prstGeom prst="rect">
            <a:avLst/>
          </a:prstGeom>
          <a:solidFill>
            <a:srgbClr val="F9B53E"/>
          </a:solidFill>
          <a:ln>
            <a:solidFill>
              <a:srgbClr val="F9B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21240" y="1975104"/>
            <a:ext cx="23317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10" b="1">
                <a:solidFill>
                  <a:srgbClr val="8EA3C5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22199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BFF"/>
                </a:solidFill>
                <a:latin typeface="Aptos"/>
              </a:defRPr>
            </a:pPr>
            <a:r>
              <a:t>Regression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703320"/>
            <a:ext cx="10881360" cy="141732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005072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60" b="1">
                <a:solidFill>
                  <a:srgbClr val="F9B53E"/>
                </a:solidFill>
                <a:latin typeface="Aptos"/>
              </a:defRPr>
            </a:pPr>
            <a:r>
              <a:t>NEXT MILESTONE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886200"/>
            <a:ext cx="8366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20" b="1">
                <a:solidFill>
                  <a:srgbClr val="F8FBFF"/>
                </a:solidFill>
                <a:latin typeface="Aptos"/>
              </a:defRPr>
            </a:pPr>
            <a:r>
              <a:t>Fix the Home Dashboard, Reports and Analytics 500 errors → rerun the complete test suite → freeze final screenshots.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709160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60" b="0">
                <a:solidFill>
                  <a:srgbClr val="8EA3C5"/>
                </a:solidFill>
                <a:latin typeface="Aptos"/>
              </a:defRPr>
            </a:pPr>
            <a:r>
              <a:t>No invented numbers. No hidden failures. Evidence first.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4D3E6"/>
          </a:solidFill>
          <a:ln>
            <a:solidFill>
              <a:srgbClr val="2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16459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F8FBFF"/>
                </a:solidFill>
                <a:latin typeface="Aptos"/>
              </a:defRPr>
            </a:pPr>
            <a:r>
              <a:rPr sz="900" dirty="0"/>
              <a:t>METRICMIND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321040" y="265176"/>
            <a:ext cx="32461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20" b="1">
                <a:solidFill>
                  <a:srgbClr val="8EA3C5"/>
                </a:solidFill>
                <a:latin typeface="Aptos"/>
              </a:defRPr>
            </a:pPr>
            <a:r>
              <a:t>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291072"/>
            <a:ext cx="10972800" cy="10972"/>
          </a:xfrm>
          <a:prstGeom prst="rect">
            <a:avLst/>
          </a:prstGeom>
          <a:solidFill>
            <a:srgbClr val="253758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49377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" b="1">
                <a:solidFill>
                  <a:srgbClr val="8EA3C5"/>
                </a:solidFill>
                <a:latin typeface="Aptos"/>
              </a:defRPr>
            </a:pPr>
            <a:r>
              <a:t>AXLERO SOLUTIONS  •  FINAL PROJECT  • 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51560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000" b="1">
                <a:solidFill>
                  <a:srgbClr val="F8FBFF"/>
                </a:solidFill>
                <a:latin typeface="Aptos Display"/>
              </a:defRPr>
            </a:pPr>
            <a:r>
              <a:t>MetricMind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>
                <a:solidFill>
                  <a:srgbClr val="BBD5F4"/>
                </a:solidFill>
                <a:latin typeface="Aptos"/>
              </a:defRPr>
            </a:pPr>
            <a:r>
              <a:t>Agentic Semantic BI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450592"/>
            <a:ext cx="4800600" cy="274320"/>
          </a:xfrm>
          <a:prstGeom prst="roundRect">
            <a:avLst>
              <a:gd name="adj" fmla="val 10000"/>
            </a:avLst>
          </a:prstGeom>
          <a:solidFill>
            <a:srgbClr val="0F2B3C"/>
          </a:solidFill>
          <a:ln>
            <a:solidFill>
              <a:srgbClr val="0F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2514600"/>
            <a:ext cx="470916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1">
                <a:solidFill>
                  <a:srgbClr val="24D3E6"/>
                </a:solidFill>
                <a:latin typeface="Aptos"/>
              </a:defRPr>
            </a:pPr>
            <a:r>
              <a:t>CONVERSATIONAL  •  GOVERNED  •  TRACEABLE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3246120"/>
            <a:ext cx="9555480" cy="1325880"/>
          </a:xfrm>
          <a:prstGeom prst="roundRect">
            <a:avLst>
              <a:gd name="adj" fmla="val 10000"/>
            </a:avLst>
          </a:prstGeom>
          <a:solidFill>
            <a:srgbClr val="0A1224"/>
          </a:solidFill>
          <a:ln>
            <a:solidFill>
              <a:srgbClr val="25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3657600"/>
            <a:ext cx="8915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F8FBFF"/>
                </a:solidFill>
                <a:latin typeface="Aptos"/>
              </a:defRPr>
            </a:pPr>
            <a:r>
              <a:t>Question → Agent → Semantic Layer → Data → Answer + Chart + API Trace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F8FB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06440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8EA3C5"/>
                </a:solidFill>
                <a:latin typeface="Aptos"/>
              </a:defRPr>
            </a:pPr>
            <a:r>
              <a:t>AXLERO SOLUTIONS  • 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974</Words>
  <Application>Microsoft Office PowerPoint</Application>
  <PresentationFormat>Widescreen</PresentationFormat>
  <Paragraphs>283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Prashant Bhavimani</cp:lastModifiedBy>
  <cp:revision>1</cp:revision>
  <dcterms:created xsi:type="dcterms:W3CDTF">2013-01-27T09:14:16Z</dcterms:created>
  <dcterms:modified xsi:type="dcterms:W3CDTF">2026-08-15T23:41:32Z</dcterms:modified>
  <cp:category/>
</cp:coreProperties>
</file>